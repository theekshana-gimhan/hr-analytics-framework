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Transfer</c:v>
                </c:pt>
              </c:strCache>
            </c:strRef>
          </c:tx>
          <c:spPr>
            <a:solidFill>
              <a:srgbClr val="B85042"/>
            </a:solidFill>
            <a:effectLst/>
          </c:spPr>
          <c:invertIfNegative val="0"/>
          <c:dLbls>
            <c:numFmt formatCode="0.00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ROC-AUC</c:v>
                  </c:pt>
                  <c:pt idx="1">
                    <c:v>PR-AUC</c:v>
                  </c:pt>
                </c:lvl>
              </c:multiLvlStrCache>
            </c:multiLvlStrRef>
          </c:cat>
          <c:val>
            <c:numRef>
              <c:f>Sheet1!$B$2:$B$3</c:f>
              <c:numCache>
                <c:formatCode>General</c:formatCode>
                <c:ptCount val="2"/>
                <c:pt idx="0">
                  <c:v>0.641</c:v>
                </c:pt>
                <c:pt idx="1">
                  <c:v>0.285</c:v>
                </c:pt>
              </c:numCache>
            </c:numRef>
          </c:val>
        </c:ser>
        <c:ser>
          <c:idx val="1"/>
          <c:order val="1"/>
          <c:tx>
            <c:strRef>
              <c:f>Sheet1!$C$1</c:f>
              <c:strCache>
                <c:ptCount val="1"/>
                <c:pt idx="0">
                  <c:v>Local</c:v>
                </c:pt>
              </c:strCache>
            </c:strRef>
          </c:tx>
          <c:spPr>
            <a:solidFill>
              <a:srgbClr val="5F7F6C"/>
            </a:solidFill>
            <a:effectLst/>
          </c:spPr>
          <c:invertIfNegative val="0"/>
          <c:dLbls>
            <c:numFmt formatCode="0.00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cat>
            <c:multiLvlStrRef>
              <c:f>Sheet1!$A$2:$A$3</c:f>
              <c:multiLvlStrCache>
                <c:ptCount val="2"/>
                <c:lvl>
                  <c:pt idx="0">
                    <c:v>ROC-AUC</c:v>
                  </c:pt>
                  <c:pt idx="1">
                    <c:v>PR-AUC</c:v>
                  </c:pt>
                </c:lvl>
              </c:multiLvlStrCache>
            </c:multiLvlStrRef>
          </c:cat>
          <c:val>
            <c:numRef>
              <c:f>Sheet1!$C$2:$C$3</c:f>
              <c:numCache>
                <c:formatCode>General</c:formatCode>
                <c:ptCount val="2"/>
                <c:pt idx="0">
                  <c:v>0.937</c:v>
                </c:pt>
                <c:pt idx="1">
                  <c:v>0.79</c:v>
                </c:pt>
              </c:numCache>
            </c:numRef>
          </c:val>
        </c:ser>
        <c:dLbls>
          <c:numFmt formatCode="0.00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A716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7167"/>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7A716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ROC-AUC</c:v>
                </c:pt>
              </c:strCache>
            </c:strRef>
          </c:tx>
          <c:spPr>
            <a:solidFill>
              <a:srgbClr val="5F7F6C"/>
            </a:solidFill>
            <a:effectLst/>
          </c:spPr>
          <c:invertIfNegative val="0"/>
          <c:dLbls>
            <c:numFmt formatCode="0.00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dPt>
            <c:idx val="0"/>
            <c:invertIfNegative val="0"/>
            <c:bubble3D val="0"/>
            <c:spPr>
              <a:solidFill>
                <a:srgbClr val="5F7F6C"/>
              </a:solidFill>
              <a:effectLst/>
            </c:spPr>
          </c:dPt>
          <c:dPt>
            <c:idx val="1"/>
            <c:invertIfNegative val="0"/>
            <c:bubble3D val="0"/>
            <c:spPr>
              <a:solidFill>
                <a:srgbClr val="5F7F6C"/>
              </a:solidFill>
              <a:effectLst/>
            </c:spPr>
          </c:dPt>
          <c:dPt>
            <c:idx val="2"/>
            <c:invertIfNegative val="0"/>
            <c:bubble3D val="0"/>
            <c:spPr>
              <a:solidFill>
                <a:srgbClr val="B85042"/>
              </a:solidFill>
              <a:effectLst/>
            </c:spPr>
          </c:dPt>
          <c:cat>
            <c:multiLvlStrRef>
              <c:f>Sheet1!$A$2:$A$4</c:f>
              <c:multiLvlStrCache>
                <c:ptCount val="3"/>
                <c:lvl>
                  <c:pt idx="0">
                    <c:v>All four features</c:v>
                  </c:pt>
                  <c:pt idx="1">
                    <c:v>Satisfaction items only</c:v>
                  </c:pt>
                  <c:pt idx="2">
                    <c:v>Age + gender only</c:v>
                  </c:pt>
                </c:lvl>
              </c:multiLvlStrCache>
            </c:multiLvlStrRef>
          </c:cat>
          <c:val>
            <c:numRef>
              <c:f>Sheet1!$B$2:$B$4</c:f>
              <c:numCache>
                <c:formatCode>General</c:formatCode>
                <c:ptCount val="3"/>
                <c:pt idx="0">
                  <c:v>0.828</c:v>
                </c:pt>
                <c:pt idx="1">
                  <c:v>0.825</c:v>
                </c:pt>
                <c:pt idx="2">
                  <c:v>0.457</c:v>
                </c:pt>
              </c:numCache>
            </c:numRef>
          </c:val>
        </c:ser>
        <c:dLbls>
          <c:numFmt formatCode="0.00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A716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12700" cap="flat">
              <a:solidFill>
                <a:srgbClr val="E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716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ROC-AUC</c:v>
                </c:pt>
              </c:strCache>
            </c:strRef>
          </c:tx>
          <c:spPr>
            <a:solidFill>
              <a:srgbClr val="5F7F6C"/>
            </a:solidFill>
            <a:effectLst/>
          </c:spPr>
          <c:invertIfNegative val="0"/>
          <c:dLbls>
            <c:numFmt formatCode="0.000" sourceLinked="0"/>
            <c:txPr>
              <a:bodyPr/>
              <a:lstStyle/>
              <a:p>
                <a:pPr>
                  <a:defRPr b="0" i="0" strike="noStrike" sz="1000" u="none">
                    <a:solidFill>
                      <a:srgbClr val="3A322C"/>
                    </a:solidFill>
                    <a:latin typeface="Calibri"/>
                  </a:defRPr>
                </a:pPr>
              </a:p>
            </c:txPr>
            <c:showLegendKey val="0"/>
            <c:showVal val="1"/>
            <c:showCatName val="0"/>
            <c:showSerName val="0"/>
            <c:showPercent val="0"/>
            <c:showBubbleSize val="0"/>
            <c:showLeaderLines val="0"/>
          </c:dLbls>
          <c:dPt>
            <c:idx val="0"/>
            <c:invertIfNegative val="0"/>
            <c:bubble3D val="0"/>
            <c:spPr>
              <a:solidFill>
                <a:srgbClr val="5F7F6C"/>
              </a:solidFill>
              <a:effectLst/>
            </c:spPr>
          </c:dPt>
          <c:dPt>
            <c:idx val="1"/>
            <c:invertIfNegative val="0"/>
            <c:bubble3D val="0"/>
            <c:spPr>
              <a:solidFill>
                <a:srgbClr val="5F7F6C"/>
              </a:solidFill>
              <a:effectLst/>
            </c:spPr>
          </c:dPt>
          <c:dPt>
            <c:idx val="2"/>
            <c:invertIfNegative val="0"/>
            <c:bubble3D val="0"/>
            <c:spPr>
              <a:solidFill>
                <a:srgbClr val="5F7F6C"/>
              </a:solidFill>
              <a:effectLst/>
            </c:spPr>
          </c:dPt>
          <c:dPt>
            <c:idx val="3"/>
            <c:invertIfNegative val="0"/>
            <c:bubble3D val="0"/>
            <c:spPr>
              <a:solidFill>
                <a:srgbClr val="B85042"/>
              </a:solidFill>
              <a:effectLst/>
            </c:spPr>
          </c:dPt>
          <c:dPt>
            <c:idx val="4"/>
            <c:invertIfNegative val="0"/>
            <c:bubble3D val="0"/>
            <c:spPr>
              <a:solidFill>
                <a:srgbClr val="5F7F6C"/>
              </a:solidFill>
              <a:effectLst/>
            </c:spPr>
          </c:dPt>
          <c:dPt>
            <c:idx val="5"/>
            <c:invertIfNegative val="0"/>
            <c:bubble3D val="0"/>
            <c:spPr>
              <a:solidFill>
                <a:srgbClr val="5F7F6C"/>
              </a:solidFill>
              <a:effectLst/>
            </c:spPr>
          </c:dPt>
          <c:cat>
            <c:multiLvlStrRef>
              <c:f>Sheet1!$A$2:$A$7</c:f>
              <c:multiLvlStrCache>
                <c:ptCount val="6"/>
                <c:lvl>
                  <c:pt idx="0">
                    <c:v>Current recipe
(2.0 / 0.5)</c:v>
                  </c:pt>
                  <c:pt idx="1">
                    <c:v>Equal weights</c:v>
                  </c:pt>
                  <c:pt idx="2">
                    <c:v>Real data only</c:v>
                  </c:pt>
                  <c:pt idx="3">
                    <c:v>Synthetic only</c:v>
                  </c:pt>
                  <c:pt idx="4">
                    <c:v>SMOTETOMEK
+ synthetic</c:v>
                  </c:pt>
                  <c:pt idx="5">
                    <c:v>SMOTETOMEK
real only</c:v>
                  </c:pt>
                </c:lvl>
              </c:multiLvlStrCache>
            </c:multiLvlStrRef>
          </c:cat>
          <c:val>
            <c:numRef>
              <c:f>Sheet1!$B$2:$B$7</c:f>
              <c:numCache>
                <c:formatCode>General</c:formatCode>
                <c:ptCount val="6"/>
                <c:pt idx="0">
                  <c:v>0.821</c:v>
                </c:pt>
                <c:pt idx="1">
                  <c:v>0.828</c:v>
                </c:pt>
                <c:pt idx="2">
                  <c:v>0.788</c:v>
                </c:pt>
                <c:pt idx="3">
                  <c:v>0.526</c:v>
                </c:pt>
                <c:pt idx="4">
                  <c:v>0.718</c:v>
                </c:pt>
                <c:pt idx="5">
                  <c:v>0.655</c:v>
                </c:pt>
              </c:numCache>
            </c:numRef>
          </c:val>
        </c:ser>
        <c:dLbls>
          <c:numFmt formatCode="0.000" sourceLinked="0"/>
          <c:txPr>
            <a:bodyPr/>
            <a:lstStyle/>
            <a:p>
              <a:pPr>
                <a:defRPr b="0" i="0" strike="noStrike" sz="1000" u="none">
                  <a:solidFill>
                    <a:srgbClr val="3A322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7A7167"/>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8E4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716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LKR / month</c:v>
                </c:pt>
              </c:strCache>
            </c:strRef>
          </c:tx>
          <c:spPr>
            <a:solidFill>
              <a:srgbClr val="B85042"/>
            </a:solidFill>
            <a:effectLst/>
          </c:spPr>
          <c:invertIfNegative val="0"/>
          <c:dLbls>
            <c:numFmt formatCode="#,##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dPt>
            <c:idx val="0"/>
            <c:invertIfNegative val="0"/>
            <c:bubble3D val="0"/>
            <c:spPr>
              <a:solidFill>
                <a:srgbClr val="B85042"/>
              </a:solidFill>
              <a:effectLst/>
            </c:spPr>
          </c:dPt>
          <c:dPt>
            <c:idx val="1"/>
            <c:invertIfNegative val="0"/>
            <c:bubble3D val="0"/>
            <c:spPr>
              <a:solidFill>
                <a:srgbClr val="B85042"/>
              </a:solidFill>
              <a:effectLst/>
            </c:spPr>
          </c:dPt>
          <c:dPt>
            <c:idx val="2"/>
            <c:invertIfNegative val="0"/>
            <c:bubble3D val="0"/>
            <c:spPr>
              <a:solidFill>
                <a:srgbClr val="5F7F6C"/>
              </a:solidFill>
              <a:effectLst/>
            </c:spPr>
          </c:dPt>
          <c:cat>
            <c:multiLvlStrRef>
              <c:f>Sheet1!$A$2:$A$4</c:f>
              <c:multiLvlStrCache>
                <c:ptCount val="3"/>
                <c:lvl>
                  <c:pt idx="0">
                    <c:v>Always-on
database</c:v>
                  </c:pt>
                  <c:pt idx="1">
                    <c:v>Container image
storage</c:v>
                  </c:pt>
                  <c:pt idx="2">
                    <c:v>All compute
(3 services)</c:v>
                  </c:pt>
                </c:lvl>
              </c:multiLvlStrCache>
            </c:multiLvlStrRef>
          </c:cat>
          <c:val>
            <c:numRef>
              <c:f>Sheet1!$B$2:$B$4</c:f>
              <c:numCache>
                <c:formatCode>General</c:formatCode>
                <c:ptCount val="3"/>
                <c:pt idx="0">
                  <c:v>2828</c:v>
                </c:pt>
                <c:pt idx="1">
                  <c:v>1140</c:v>
                </c:pt>
                <c:pt idx="2">
                  <c:v>82</c:v>
                </c:pt>
              </c:numCache>
            </c:numRef>
          </c:val>
        </c:ser>
        <c:dLbls>
          <c:numFmt formatCode="#,##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A716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4D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716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Findings</c:v>
                </c:pt>
              </c:strCache>
            </c:strRef>
          </c:tx>
          <c:spPr>
            <a:solidFill>
              <a:srgbClr val="A7BEAE"/>
            </a:solidFill>
            <a:effectLst/>
          </c:spPr>
          <c:invertIfNegative val="0"/>
          <c:dLbls>
            <c:numFmt formatCode="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EAE"/>
              </a:solidFill>
              <a:effectLst/>
            </c:spPr>
          </c:dPt>
          <c:dPt>
            <c:idx val="1"/>
            <c:invertIfNegative val="0"/>
            <c:bubble3D val="0"/>
            <c:spPr>
              <a:solidFill>
                <a:srgbClr val="A7BEAE"/>
              </a:solidFill>
              <a:effectLst/>
            </c:spPr>
          </c:dPt>
          <c:dPt>
            <c:idx val="2"/>
            <c:invertIfNegative val="0"/>
            <c:bubble3D val="0"/>
            <c:spPr>
              <a:solidFill>
                <a:srgbClr val="B85042"/>
              </a:solidFill>
              <a:effectLst/>
            </c:spPr>
          </c:dPt>
          <c:dPt>
            <c:idx val="3"/>
            <c:invertIfNegative val="0"/>
            <c:bubble3D val="0"/>
            <c:spPr>
              <a:solidFill>
                <a:srgbClr val="B85042"/>
              </a:solidFill>
              <a:effectLst/>
            </c:spPr>
          </c:dPt>
          <c:cat>
            <c:multiLvlStrRef>
              <c:f>Sheet1!$A$2:$A$5</c:f>
              <c:multiLvlStrCache>
                <c:ptCount val="4"/>
                <c:lvl>
                  <c:pt idx="0">
                    <c:v>1 — cosmetic</c:v>
                  </c:pt>
                  <c:pt idx="1">
                    <c:v>2 — minor</c:v>
                  </c:pt>
                  <c:pt idx="2">
                    <c:v>3 — major</c:v>
                  </c:pt>
                  <c:pt idx="3">
                    <c:v>4 — catastrophe</c:v>
                  </c:pt>
                </c:lvl>
              </c:multiLvlStrCache>
            </c:multiLvlStrRef>
          </c:cat>
          <c:val>
            <c:numRef>
              <c:f>Sheet1!$B$2:$B$5</c:f>
              <c:numCache>
                <c:formatCode>General</c:formatCode>
                <c:ptCount val="4"/>
                <c:pt idx="0">
                  <c:v>3</c:v>
                </c:pt>
                <c:pt idx="1">
                  <c:v>4</c:v>
                </c:pt>
                <c:pt idx="2">
                  <c:v>5</c:v>
                </c:pt>
                <c:pt idx="3">
                  <c:v>1</c:v>
                </c:pt>
              </c:numCache>
            </c:numRef>
          </c:val>
        </c:ser>
        <c:dLbls>
          <c:numFmt formatCode="0" sourceLinked="0"/>
          <c:txPr>
            <a:bodyPr/>
            <a:lstStyle/>
            <a:p>
              <a:pPr>
                <a:defRPr b="0" i="0" strike="noStrike" sz="1100" u="none">
                  <a:solidFill>
                    <a:srgbClr val="3A322C"/>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A7167"/>
                </a:solidFill>
                <a:latin typeface="Calibri"/>
              </a:defRPr>
            </a:pPr>
            <a:endParaRPr lang="en-US"/>
          </a:p>
        </c:txPr>
        <c:crossAx val="2094734552"/>
        <c:crosses val="autoZero"/>
        <c:auto val="1"/>
        <c:lblAlgn val="ctr"/>
        <c:noMultiLvlLbl val="1"/>
      </c:catAx>
      <c:valAx>
        <c:axId val="2094734552"/>
        <c:scaling>
          <c:orientation val="minMax"/>
          <c:max val="6"/>
          <c:min val="0"/>
        </c:scaling>
        <c:delete val="0"/>
        <c:axPos val="b"/>
        <c:majorGridlines>
          <c:spPr>
            <a:ln w="12700" cap="flat">
              <a:solidFill>
                <a:srgbClr val="E8E4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716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project asked whether a Sri Lankan SME can run predictive HR analytics on a serverless budget, and whether attrition models built elsewhere transfer here. The headline answer to the second question is no, and that negative result is the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ceiling is not arbitrary - it is roughly what an SME of this size can absorb without board approval. The 230 figure matters most: that is the entire real Sri Lankan evidence base, and it is why borrowing looked attractive.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that makes a negative result publishable rather than disappointing. Nobody had run the test for Sri Lanka, and the two relevant literatures make opposite predictions about what it would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early that two of three answers are negative, so the examiners are not waiting for a triumph slide that never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stress is the evaluation activity: every number in Chapter 5 comes from a script written to attack a claim, not to illustrate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here. The honest answer is that label shift and national context are confounded by design, and separating them needs observed attrition data from a Sri Lankan employer - which is the first item of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150 seconds figure is the architecture argument in one number: scale-to-zero means the model costs nothing while nobody is asking it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hook. If time is short, skip the live demo and talk over this slide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first to say the two figures are not like-for-like: transfer is genuine out-of-sample, local is cross-validated within the same 230 records. They answer different questions. Chapter 5 says this before any reader can raise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the audit found it. The interim report claimed age dominated the transfer model; that turned out to be an artefact of age being stored as four bracket midpoints with 88.7% of records at one value. Say so plainly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weighting finding is the uncomfortable one: a scheme central to the data strategy turned out to do nothing measurable. Reporting it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incompleteness before being asked: the comparison against a persistent always-on deployment was argued architecturally, not benchmarked. That is a genuine gap in the RQ2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Declare the AI second evaluator before being asked. The defensible position: it gave systematic coverage and a screenshot per claim, it is not a usability expert, and the most valuable finding came from the human. All three statements are in section 5.10.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Volunteering the limitations is what makes the positive claims credible, and examiners reward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one is the thesis. If only one thing is remembered from this presentation, it should be that borrowing an international attrition model does not work for this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the service up immediately before the viva by making one prediction. If it is cold in front of the panel, do not apologise - explain it as the cost trade-off, which is exactly what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I would do differently: collect Sri Lankan outcome data first and treat the international sources as a comparison rather than a substitute.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reflection from section 6.5 rather than on a summary of findings - it is the sentence that frames every negative result in the deck as intentional.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41E"/>
        </a:solidFill>
      </p:bgPr>
    </p:bg>
    <p:spTree>
      <p:nvGrpSpPr>
        <p:cNvPr id="1" name=""/>
        <p:cNvGrpSpPr/>
        <p:nvPr/>
      </p:nvGrpSpPr>
      <p:grpSpPr>
        <a:xfrm>
          <a:off x="0" y="0"/>
          <a:ext cx="0" cy="0"/>
          <a:chOff x="0" y="0"/>
          <a:chExt cx="0" cy="0"/>
        </a:xfrm>
      </p:grpSpPr>
      <p:sp>
        <p:nvSpPr>
          <p:cNvPr id="2" name="Shape 0"/>
          <p:cNvSpPr/>
          <p:nvPr/>
        </p:nvSpPr>
        <p:spPr>
          <a:xfrm>
            <a:off x="9052560" y="822960"/>
            <a:ext cx="4023360" cy="4023360"/>
          </a:xfrm>
          <a:prstGeom prst="ellipse">
            <a:avLst/>
          </a:prstGeom>
          <a:solidFill>
            <a:srgbClr val="B85042">
              <a:alpha val="28000"/>
            </a:srgbClr>
          </a:solidFill>
          <a:ln w="12700">
            <a:solidFill>
              <a:srgbClr val="B85042">
                <a:alpha val="28000"/>
              </a:srgbClr>
            </a:solidFill>
            <a:prstDash val="solid"/>
          </a:ln>
        </p:spPr>
      </p:sp>
      <p:sp>
        <p:nvSpPr>
          <p:cNvPr id="3" name="Shape 1"/>
          <p:cNvSpPr/>
          <p:nvPr/>
        </p:nvSpPr>
        <p:spPr>
          <a:xfrm>
            <a:off x="9966960" y="2286000"/>
            <a:ext cx="2926080" cy="2926080"/>
          </a:xfrm>
          <a:prstGeom prst="ellipse">
            <a:avLst/>
          </a:prstGeom>
          <a:solidFill>
            <a:srgbClr val="5F7F6C">
              <a:alpha val="40000"/>
            </a:srgbClr>
          </a:solidFill>
          <a:ln w="12700">
            <a:solidFill>
              <a:srgbClr val="5F7F6C">
                <a:alpha val="40000"/>
              </a:srgbClr>
            </a:solidFill>
            <a:prstDash val="solid"/>
          </a:ln>
        </p:spPr>
      </p:sp>
      <p:sp>
        <p:nvSpPr>
          <p:cNvPr id="4" name="Text 2"/>
          <p:cNvSpPr/>
          <p:nvPr/>
        </p:nvSpPr>
        <p:spPr>
          <a:xfrm>
            <a:off x="640080" y="1600200"/>
            <a:ext cx="8138160" cy="1828800"/>
          </a:xfrm>
          <a:prstGeom prst="rect">
            <a:avLst/>
          </a:prstGeom>
          <a:noFill/>
          <a:ln/>
        </p:spPr>
        <p:txBody>
          <a:bodyPr wrap="square" lIns="0" tIns="0" rIns="0" bIns="0" rtlCol="0" anchor="ctr"/>
          <a:lstStyle/>
          <a:p>
            <a:pPr indent="0" marL="0">
              <a:lnSpc>
                <a:spcPct val="105000"/>
              </a:lnSpc>
              <a:buNone/>
            </a:pPr>
            <a:r>
              <a:rPr lang="en-US" sz="3300" b="1" dirty="0">
                <a:solidFill>
                  <a:srgbClr val="FFFFFF"/>
                </a:solidFill>
                <a:latin typeface="Cambria" pitchFamily="34" charset="0"/>
                <a:ea typeface="Cambria" pitchFamily="34" charset="-122"/>
                <a:cs typeface="Cambria" pitchFamily="34" charset="-120"/>
              </a:rPr>
              <a:t>A Cost-Effective Predictive HR Analytics Framework for Sri Lankan SMEs</a:t>
            </a:r>
            <a:endParaRPr lang="en-US" sz="3300" dirty="0"/>
          </a:p>
        </p:txBody>
      </p:sp>
      <p:sp>
        <p:nvSpPr>
          <p:cNvPr id="5" name="Text 3"/>
          <p:cNvSpPr/>
          <p:nvPr/>
        </p:nvSpPr>
        <p:spPr>
          <a:xfrm>
            <a:off x="640080" y="3401568"/>
            <a:ext cx="8138160" cy="384048"/>
          </a:xfrm>
          <a:prstGeom prst="rect">
            <a:avLst/>
          </a:prstGeom>
          <a:noFill/>
          <a:ln/>
        </p:spPr>
        <p:txBody>
          <a:bodyPr wrap="square" lIns="0" tIns="0" rIns="0" bIns="0" rtlCol="0" anchor="ctr"/>
          <a:lstStyle/>
          <a:p>
            <a:pPr indent="0" marL="0">
              <a:buNone/>
            </a:pPr>
            <a:r>
              <a:rPr lang="en-US" sz="1700" i="1" dirty="0">
                <a:solidFill>
                  <a:srgbClr val="A7BEAE"/>
                </a:solidFill>
                <a:latin typeface="Calibri" pitchFamily="34" charset="0"/>
                <a:ea typeface="Calibri" pitchFamily="34" charset="-122"/>
                <a:cs typeface="Calibri" pitchFamily="34" charset="-120"/>
              </a:rPr>
              <a:t>Using cloud-native serverless AI</a:t>
            </a:r>
            <a:endParaRPr lang="en-US" sz="1700" dirty="0"/>
          </a:p>
        </p:txBody>
      </p:sp>
      <p:sp>
        <p:nvSpPr>
          <p:cNvPr id="6" name="Text 4"/>
          <p:cNvSpPr/>
          <p:nvPr/>
        </p:nvSpPr>
        <p:spPr>
          <a:xfrm>
            <a:off x="640080" y="4160520"/>
            <a:ext cx="8138160" cy="274320"/>
          </a:xfrm>
          <a:prstGeom prst="rect">
            <a:avLst/>
          </a:prstGeom>
          <a:noFill/>
          <a:ln/>
        </p:spPr>
        <p:txBody>
          <a:bodyPr wrap="square" lIns="0" tIns="0" rIns="0" bIns="0" rtlCol="0" anchor="ctr"/>
          <a:lstStyle/>
          <a:p>
            <a:pPr indent="0" marL="0">
              <a:buNone/>
            </a:pPr>
            <a:r>
              <a:rPr lang="en-US" sz="1200" spc="150" kern="0" dirty="0">
                <a:solidFill>
                  <a:srgbClr val="E0E1CE"/>
                </a:solidFill>
                <a:latin typeface="Calibri" pitchFamily="34" charset="0"/>
                <a:ea typeface="Calibri" pitchFamily="34" charset="-122"/>
                <a:cs typeface="Calibri" pitchFamily="34" charset="-120"/>
              </a:rPr>
              <a:t>Final Presentation and Viva  |  COM 4901</a:t>
            </a:r>
            <a:endParaRPr lang="en-US" sz="1200" dirty="0"/>
          </a:p>
        </p:txBody>
      </p:sp>
      <p:sp>
        <p:nvSpPr>
          <p:cNvPr id="7" name="Text 5"/>
          <p:cNvSpPr/>
          <p:nvPr/>
        </p:nvSpPr>
        <p:spPr>
          <a:xfrm>
            <a:off x="640080" y="4709160"/>
            <a:ext cx="8138160" cy="1463040"/>
          </a:xfrm>
          <a:prstGeom prst="rect">
            <a:avLst/>
          </a:prstGeom>
          <a:noFill/>
          <a:ln/>
        </p:spPr>
        <p:txBody>
          <a:bodyPr wrap="square" lIns="0" tIns="0" rIns="0" bIns="0" rtlCol="0" anchor="ctr"/>
          <a:lstStyle/>
          <a:p>
            <a:pPr indent="0" marL="0">
              <a:lnSpc>
                <a:spcPct val="125000"/>
              </a:lnSpc>
              <a:buNone/>
            </a:pPr>
            <a:r>
              <a:rPr lang="en-US" sz="1600" b="1" dirty="0">
                <a:solidFill>
                  <a:srgbClr val="FFFFFF"/>
                </a:solidFill>
                <a:latin typeface="Calibri" pitchFamily="34" charset="0"/>
                <a:ea typeface="Calibri" pitchFamily="34" charset="-122"/>
                <a:cs typeface="Calibri" pitchFamily="34" charset="-120"/>
              </a:rPr>
              <a:t>Theekshana Gimhan</a:t>
            </a:r>
            <a:endParaRPr lang="en-US" sz="1600" dirty="0"/>
          </a:p>
          <a:p>
            <a:pPr indent="0" marL="0">
              <a:lnSpc>
                <a:spcPct val="125000"/>
              </a:lnSpc>
              <a:buNone/>
            </a:pPr>
            <a:r>
              <a:rPr lang="en-US" sz="1200" dirty="0">
                <a:solidFill>
                  <a:srgbClr val="E0E1CE"/>
                </a:solidFill>
                <a:latin typeface="Calibri" pitchFamily="34" charset="0"/>
                <a:ea typeface="Calibri" pitchFamily="34" charset="-122"/>
                <a:cs typeface="Calibri" pitchFamily="34" charset="-120"/>
              </a:rPr>
              <a:t>Student ID 15002</a:t>
            </a:r>
            <a:endParaRPr lang="en-US" sz="1600" dirty="0"/>
          </a:p>
          <a:p>
            <a:pPr indent="0" marL="0">
              <a:lnSpc>
                <a:spcPct val="125000"/>
              </a:lnSpc>
              <a:buNone/>
            </a:pPr>
            <a:r>
              <a:rPr lang="en-US" sz="1200" dirty="0">
                <a:solidFill>
                  <a:srgbClr val="E0E1CE"/>
                </a:solidFill>
                <a:latin typeface="Calibri" pitchFamily="34" charset="0"/>
                <a:ea typeface="Calibri" pitchFamily="34" charset="-122"/>
                <a:cs typeface="Calibri" pitchFamily="34" charset="-120"/>
              </a:rPr>
              <a:t>Supervisor: Ms. Thanuja Irugalbandara</a:t>
            </a:r>
            <a:endParaRPr lang="en-US" sz="1600" dirty="0"/>
          </a:p>
          <a:p>
            <a:pPr indent="0" marL="0">
              <a:lnSpc>
                <a:spcPct val="125000"/>
              </a:lnSpc>
              <a:buNone/>
            </a:pPr>
            <a:r>
              <a:rPr lang="en-US" sz="1100" dirty="0">
                <a:solidFill>
                  <a:srgbClr val="7A7167"/>
                </a:solidFill>
                <a:latin typeface="Calibri" pitchFamily="34" charset="0"/>
                <a:ea typeface="Calibri" pitchFamily="34" charset="-122"/>
                <a:cs typeface="Calibri" pitchFamily="34" charset="-120"/>
              </a:rPr>
              <a:t>BSc (Hons) Management Information Systems  |  KIU University  |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2</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The problem</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Firms with the turnover cost of a large employer and none of the analytics capacity</a:t>
            </a:r>
            <a:endParaRPr lang="en-US" sz="1400" dirty="0"/>
          </a:p>
        </p:txBody>
      </p:sp>
      <p:sp>
        <p:nvSpPr>
          <p:cNvPr id="5" name="Text 3"/>
          <p:cNvSpPr/>
          <p:nvPr/>
        </p:nvSpPr>
        <p:spPr>
          <a:xfrm>
            <a:off x="640080" y="1828800"/>
            <a:ext cx="6035040" cy="31089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500" dirty="0">
                <a:solidFill>
                  <a:srgbClr val="3A322C"/>
                </a:solidFill>
                <a:latin typeface="Calibri" pitchFamily="34" charset="0"/>
                <a:ea typeface="Calibri" pitchFamily="34" charset="-122"/>
                <a:cs typeface="Calibri" pitchFamily="34" charset="-120"/>
              </a:rPr>
              <a:t>Commercial HR analytics is licensed per seat at enterprise scale. The fixed cost does not shrink with the firm.</a:t>
            </a:r>
            <a:endParaRPr lang="en-US" sz="1500" dirty="0"/>
          </a:p>
          <a:p>
            <a:pPr marL="342900" indent="-342900">
              <a:lnSpc>
                <a:spcPct val="110000"/>
              </a:lnSpc>
              <a:spcAft>
                <a:spcPts val="800"/>
              </a:spcAft>
              <a:buSzPct val="100000"/>
              <a:buChar char="•"/>
            </a:pPr>
            <a:r>
              <a:rPr lang="en-US" sz="1500" dirty="0">
                <a:solidFill>
                  <a:srgbClr val="3A322C"/>
                </a:solidFill>
                <a:latin typeface="Calibri" pitchFamily="34" charset="0"/>
                <a:ea typeface="Calibri" pitchFamily="34" charset="-122"/>
                <a:cs typeface="Calibri" pitchFamily="34" charset="-120"/>
              </a:rPr>
              <a:t>AutoML platforms assume continuous, high-volume training data. A 30-person SME generates neither the volume nor the turnover events.</a:t>
            </a:r>
            <a:endParaRPr lang="en-US" sz="1500" dirty="0"/>
          </a:p>
          <a:p>
            <a:pPr marL="342900" indent="-342900">
              <a:lnSpc>
                <a:spcPct val="110000"/>
              </a:lnSpc>
              <a:spcAft>
                <a:spcPts val="800"/>
              </a:spcAft>
              <a:buSzPct val="100000"/>
              <a:buChar char="•"/>
            </a:pPr>
            <a:r>
              <a:rPr lang="en-US" sz="1500" dirty="0">
                <a:solidFill>
                  <a:srgbClr val="3A322C"/>
                </a:solidFill>
                <a:latin typeface="Calibri" pitchFamily="34" charset="0"/>
                <a:ea typeface="Calibri" pitchFamily="34" charset="-122"/>
                <a:cs typeface="Calibri" pitchFamily="34" charset="-120"/>
              </a:rPr>
              <a:t>No published attrition model is fitted to Sri Lankan data, so practitioners are implicitly told to borrow one built elsewhere.</a:t>
            </a:r>
            <a:endParaRPr lang="en-US" sz="1500" dirty="0"/>
          </a:p>
        </p:txBody>
      </p:sp>
      <p:sp>
        <p:nvSpPr>
          <p:cNvPr id="6" name="Text 4"/>
          <p:cNvSpPr/>
          <p:nvPr/>
        </p:nvSpPr>
        <p:spPr>
          <a:xfrm>
            <a:off x="640080" y="4069080"/>
            <a:ext cx="6035040" cy="457200"/>
          </a:xfrm>
          <a:prstGeom prst="rect">
            <a:avLst/>
          </a:prstGeom>
          <a:noFill/>
          <a:ln/>
        </p:spPr>
        <p:txBody>
          <a:bodyPr wrap="square" lIns="0" tIns="0" rIns="0" bIns="0" rtlCol="0" anchor="ctr"/>
          <a:lstStyle/>
          <a:p>
            <a:pPr indent="0" marL="0">
              <a:buNone/>
            </a:pPr>
            <a:r>
              <a:rPr lang="en-US" sz="1500" b="1" i="1" dirty="0">
                <a:solidFill>
                  <a:srgbClr val="B85042"/>
                </a:solidFill>
                <a:latin typeface="Calibri" pitchFamily="34" charset="0"/>
                <a:ea typeface="Calibri" pitchFamily="34" charset="-122"/>
                <a:cs typeface="Calibri" pitchFamily="34" charset="-120"/>
              </a:rPr>
              <a:t>That last assumption is what this project set out to test.</a:t>
            </a:r>
            <a:endParaRPr lang="en-US" sz="1500" dirty="0"/>
          </a:p>
        </p:txBody>
      </p:sp>
      <p:sp>
        <p:nvSpPr>
          <p:cNvPr id="7" name="Shape 5"/>
          <p:cNvSpPr/>
          <p:nvPr/>
        </p:nvSpPr>
        <p:spPr>
          <a:xfrm>
            <a:off x="7223760" y="1828800"/>
            <a:ext cx="4325112" cy="1042416"/>
          </a:xfrm>
          <a:prstGeom prst="roundRect">
            <a:avLst>
              <a:gd name="adj" fmla="val 526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8" name="Text 6"/>
          <p:cNvSpPr/>
          <p:nvPr/>
        </p:nvSpPr>
        <p:spPr>
          <a:xfrm>
            <a:off x="7516368" y="1901952"/>
            <a:ext cx="3776472" cy="502920"/>
          </a:xfrm>
          <a:prstGeom prst="rect">
            <a:avLst/>
          </a:prstGeom>
          <a:noFill/>
          <a:ln/>
        </p:spPr>
        <p:txBody>
          <a:bodyPr wrap="square" lIns="0" tIns="0" rIns="0" bIns="0" rtlCol="0" anchor="ctr"/>
          <a:lstStyle/>
          <a:p>
            <a:pPr indent="0" marL="0">
              <a:buNone/>
            </a:pPr>
            <a:r>
              <a:rPr lang="en-US" sz="2600" b="1" dirty="0">
                <a:solidFill>
                  <a:srgbClr val="2E241E"/>
                </a:solidFill>
                <a:latin typeface="Cambria" pitchFamily="34" charset="0"/>
                <a:ea typeface="Cambria" pitchFamily="34" charset="-122"/>
                <a:cs typeface="Cambria" pitchFamily="34" charset="-120"/>
              </a:rPr>
              <a:t>20-50</a:t>
            </a:r>
            <a:endParaRPr lang="en-US" sz="2600" dirty="0"/>
          </a:p>
        </p:txBody>
      </p:sp>
      <p:sp>
        <p:nvSpPr>
          <p:cNvPr id="9" name="Text 7"/>
          <p:cNvSpPr/>
          <p:nvPr/>
        </p:nvSpPr>
        <p:spPr>
          <a:xfrm>
            <a:off x="7516368" y="2404872"/>
            <a:ext cx="3776472" cy="365760"/>
          </a:xfrm>
          <a:prstGeom prst="rect">
            <a:avLst/>
          </a:prstGeom>
          <a:noFill/>
          <a:ln/>
        </p:spPr>
        <p:txBody>
          <a:bodyPr wrap="square" lIns="0" tIns="0" rIns="0" bIns="0" rtlCol="0" anchor="t"/>
          <a:lstStyle/>
          <a:p>
            <a:pPr indent="0" marL="0">
              <a:buNone/>
            </a:pPr>
            <a:r>
              <a:rPr lang="en-US" sz="1150" dirty="0">
                <a:solidFill>
                  <a:srgbClr val="7A7167"/>
                </a:solidFill>
                <a:latin typeface="Calibri" pitchFamily="34" charset="0"/>
                <a:ea typeface="Calibri" pitchFamily="34" charset="-122"/>
                <a:cs typeface="Calibri" pitchFamily="34" charset="-120"/>
              </a:rPr>
              <a:t>Employees in the target firm size</a:t>
            </a:r>
            <a:endParaRPr lang="en-US" sz="1150" dirty="0"/>
          </a:p>
        </p:txBody>
      </p:sp>
      <p:sp>
        <p:nvSpPr>
          <p:cNvPr id="10" name="Shape 8"/>
          <p:cNvSpPr/>
          <p:nvPr/>
        </p:nvSpPr>
        <p:spPr>
          <a:xfrm>
            <a:off x="7223760" y="3054096"/>
            <a:ext cx="4325112" cy="1042416"/>
          </a:xfrm>
          <a:prstGeom prst="roundRect">
            <a:avLst>
              <a:gd name="adj" fmla="val 526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1" name="Text 9"/>
          <p:cNvSpPr/>
          <p:nvPr/>
        </p:nvSpPr>
        <p:spPr>
          <a:xfrm>
            <a:off x="7516368" y="3127248"/>
            <a:ext cx="3776472" cy="502920"/>
          </a:xfrm>
          <a:prstGeom prst="rect">
            <a:avLst/>
          </a:prstGeom>
          <a:noFill/>
          <a:ln/>
        </p:spPr>
        <p:txBody>
          <a:bodyPr wrap="square" lIns="0" tIns="0" rIns="0" bIns="0" rtlCol="0" anchor="ctr"/>
          <a:lstStyle/>
          <a:p>
            <a:pPr indent="0" marL="0">
              <a:buNone/>
            </a:pPr>
            <a:r>
              <a:rPr lang="en-US" sz="2600" b="1" dirty="0">
                <a:solidFill>
                  <a:srgbClr val="2E241E"/>
                </a:solidFill>
                <a:latin typeface="Cambria" pitchFamily="34" charset="0"/>
                <a:ea typeface="Cambria" pitchFamily="34" charset="-122"/>
                <a:cs typeface="Cambria" pitchFamily="34" charset="-120"/>
              </a:rPr>
              <a:t>LKR 10,000</a:t>
            </a:r>
            <a:endParaRPr lang="en-US" sz="2600" dirty="0"/>
          </a:p>
        </p:txBody>
      </p:sp>
      <p:sp>
        <p:nvSpPr>
          <p:cNvPr id="12" name="Text 10"/>
          <p:cNvSpPr/>
          <p:nvPr/>
        </p:nvSpPr>
        <p:spPr>
          <a:xfrm>
            <a:off x="7516368" y="3630168"/>
            <a:ext cx="3776472" cy="365760"/>
          </a:xfrm>
          <a:prstGeom prst="rect">
            <a:avLst/>
          </a:prstGeom>
          <a:noFill/>
          <a:ln/>
        </p:spPr>
        <p:txBody>
          <a:bodyPr wrap="square" lIns="0" tIns="0" rIns="0" bIns="0" rtlCol="0" anchor="t"/>
          <a:lstStyle/>
          <a:p>
            <a:pPr indent="0" marL="0">
              <a:buNone/>
            </a:pPr>
            <a:r>
              <a:rPr lang="en-US" sz="1150" dirty="0">
                <a:solidFill>
                  <a:srgbClr val="7A7167"/>
                </a:solidFill>
                <a:latin typeface="Calibri" pitchFamily="34" charset="0"/>
                <a:ea typeface="Calibri" pitchFamily="34" charset="-122"/>
                <a:cs typeface="Calibri" pitchFamily="34" charset="-120"/>
              </a:rPr>
              <a:t>Monthly operational cost ceiling</a:t>
            </a:r>
            <a:endParaRPr lang="en-US" sz="1150" dirty="0"/>
          </a:p>
        </p:txBody>
      </p:sp>
      <p:sp>
        <p:nvSpPr>
          <p:cNvPr id="13" name="Shape 11"/>
          <p:cNvSpPr/>
          <p:nvPr/>
        </p:nvSpPr>
        <p:spPr>
          <a:xfrm>
            <a:off x="7223760" y="4279392"/>
            <a:ext cx="4325112" cy="1042416"/>
          </a:xfrm>
          <a:prstGeom prst="roundRect">
            <a:avLst>
              <a:gd name="adj" fmla="val 526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4" name="Text 12"/>
          <p:cNvSpPr/>
          <p:nvPr/>
        </p:nvSpPr>
        <p:spPr>
          <a:xfrm>
            <a:off x="7516368" y="4352544"/>
            <a:ext cx="3776472" cy="502920"/>
          </a:xfrm>
          <a:prstGeom prst="rect">
            <a:avLst/>
          </a:prstGeom>
          <a:noFill/>
          <a:ln/>
        </p:spPr>
        <p:txBody>
          <a:bodyPr wrap="square" lIns="0" tIns="0" rIns="0" bIns="0" rtlCol="0" anchor="ctr"/>
          <a:lstStyle/>
          <a:p>
            <a:pPr indent="0" marL="0">
              <a:buNone/>
            </a:pPr>
            <a:r>
              <a:rPr lang="en-US" sz="2600" b="1" dirty="0">
                <a:solidFill>
                  <a:srgbClr val="2E241E"/>
                </a:solidFill>
                <a:latin typeface="Cambria" pitchFamily="34" charset="0"/>
                <a:ea typeface="Cambria" pitchFamily="34" charset="-122"/>
                <a:cs typeface="Cambria" pitchFamily="34" charset="-120"/>
              </a:rPr>
              <a:t>230</a:t>
            </a:r>
            <a:endParaRPr lang="en-US" sz="2600" dirty="0"/>
          </a:p>
        </p:txBody>
      </p:sp>
      <p:sp>
        <p:nvSpPr>
          <p:cNvPr id="15" name="Text 13"/>
          <p:cNvSpPr/>
          <p:nvPr/>
        </p:nvSpPr>
        <p:spPr>
          <a:xfrm>
            <a:off x="7516368" y="4855464"/>
            <a:ext cx="3776472" cy="365760"/>
          </a:xfrm>
          <a:prstGeom prst="rect">
            <a:avLst/>
          </a:prstGeom>
          <a:noFill/>
          <a:ln/>
        </p:spPr>
        <p:txBody>
          <a:bodyPr wrap="square" lIns="0" tIns="0" rIns="0" bIns="0" rtlCol="0" anchor="t"/>
          <a:lstStyle/>
          <a:p>
            <a:pPr indent="0" marL="0">
              <a:buNone/>
            </a:pPr>
            <a:r>
              <a:rPr lang="en-US" sz="1150" dirty="0">
                <a:solidFill>
                  <a:srgbClr val="7A7167"/>
                </a:solidFill>
                <a:latin typeface="Calibri" pitchFamily="34" charset="0"/>
                <a:ea typeface="Calibri" pitchFamily="34" charset="-122"/>
                <a:cs typeface="Calibri" pitchFamily="34" charset="-120"/>
              </a:rPr>
              <a:t>Real Sri Lankan records available anywhere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3</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The gap in the literature</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Transfer is assumed by one body of work and doubted by another. Almost nobody tests it.</a:t>
            </a:r>
            <a:endParaRPr lang="en-US" sz="1400" dirty="0"/>
          </a:p>
        </p:txBody>
      </p:sp>
      <p:sp>
        <p:nvSpPr>
          <p:cNvPr id="5" name="Shape 3"/>
          <p:cNvSpPr/>
          <p:nvPr/>
        </p:nvSpPr>
        <p:spPr>
          <a:xfrm>
            <a:off x="640080" y="1828800"/>
            <a:ext cx="5257800" cy="2057400"/>
          </a:xfrm>
          <a:prstGeom prst="roundRect">
            <a:avLst>
              <a:gd name="adj" fmla="val 266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Shape 4"/>
          <p:cNvSpPr/>
          <p:nvPr/>
        </p:nvSpPr>
        <p:spPr>
          <a:xfrm>
            <a:off x="932688" y="2084832"/>
            <a:ext cx="457200" cy="457200"/>
          </a:xfrm>
          <a:prstGeom prst="ellipse">
            <a:avLst/>
          </a:prstGeom>
          <a:solidFill>
            <a:srgbClr val="B85042"/>
          </a:solidFill>
          <a:ln w="12700">
            <a:solidFill>
              <a:srgbClr val="B85042"/>
            </a:solidFill>
            <a:prstDash val="solid"/>
          </a:ln>
        </p:spPr>
      </p:sp>
      <p:sp>
        <p:nvSpPr>
          <p:cNvPr id="7" name="Text 5"/>
          <p:cNvSpPr/>
          <p:nvPr/>
        </p:nvSpPr>
        <p:spPr>
          <a:xfrm>
            <a:off x="932688" y="2084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p:nvPr/>
        </p:nvSpPr>
        <p:spPr>
          <a:xfrm>
            <a:off x="1536192" y="2103120"/>
            <a:ext cx="4114800" cy="384048"/>
          </a:xfrm>
          <a:prstGeom prst="rect">
            <a:avLst/>
          </a:prstGeom>
          <a:noFill/>
          <a:ln/>
        </p:spPr>
        <p:txBody>
          <a:bodyPr wrap="square" lIns="0" tIns="0" rIns="0" bIns="0" rtlCol="0" anchor="ctr"/>
          <a:lstStyle/>
          <a:p>
            <a:pPr indent="0" marL="0">
              <a:buNone/>
            </a:pPr>
            <a:r>
              <a:rPr lang="en-US" sz="1500" b="1" dirty="0">
                <a:solidFill>
                  <a:srgbClr val="2E241E"/>
                </a:solidFill>
                <a:latin typeface="Calibri" pitchFamily="34" charset="0"/>
                <a:ea typeface="Calibri" pitchFamily="34" charset="-122"/>
                <a:cs typeface="Calibri" pitchFamily="34" charset="-120"/>
              </a:rPr>
              <a:t>What the ML literature assumes</a:t>
            </a:r>
            <a:endParaRPr lang="en-US" sz="1500" dirty="0"/>
          </a:p>
        </p:txBody>
      </p:sp>
      <p:sp>
        <p:nvSpPr>
          <p:cNvPr id="9" name="Text 7"/>
          <p:cNvSpPr/>
          <p:nvPr/>
        </p:nvSpPr>
        <p:spPr>
          <a:xfrm>
            <a:off x="932688" y="2697480"/>
            <a:ext cx="4663440" cy="1280160"/>
          </a:xfrm>
          <a:prstGeom prst="rect">
            <a:avLst/>
          </a:prstGeom>
          <a:noFill/>
          <a:ln/>
        </p:spPr>
        <p:txBody>
          <a:bodyPr wrap="square" lIns="0" tIns="0" rIns="0" bIns="0" rtlCol="0" anchor="t"/>
          <a:lstStyle/>
          <a:p>
            <a:pPr indent="0" marL="0">
              <a:lnSpc>
                <a:spcPct val="110000"/>
              </a:lnSpc>
              <a:buNone/>
            </a:pPr>
            <a:r>
              <a:rPr lang="en-US" sz="1350" dirty="0">
                <a:solidFill>
                  <a:srgbClr val="3A322C"/>
                </a:solidFill>
                <a:latin typeface="Calibri" pitchFamily="34" charset="0"/>
                <a:ea typeface="Calibri" pitchFamily="34" charset="-122"/>
                <a:cs typeface="Calibri" pitchFamily="34" charset="-120"/>
              </a:rPr>
              <a:t>Attrition studies train and validate on a single public dataset, most often IBM’s synthetic HR set, then name generalisation to other contexts as future work.</a:t>
            </a:r>
            <a:endParaRPr lang="en-US" sz="1350" dirty="0"/>
          </a:p>
        </p:txBody>
      </p:sp>
      <p:sp>
        <p:nvSpPr>
          <p:cNvPr id="10" name="Shape 8"/>
          <p:cNvSpPr/>
          <p:nvPr/>
        </p:nvSpPr>
        <p:spPr>
          <a:xfrm>
            <a:off x="6263640" y="1828800"/>
            <a:ext cx="5285232" cy="2057400"/>
          </a:xfrm>
          <a:prstGeom prst="roundRect">
            <a:avLst>
              <a:gd name="adj" fmla="val 266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1" name="Shape 9"/>
          <p:cNvSpPr/>
          <p:nvPr/>
        </p:nvSpPr>
        <p:spPr>
          <a:xfrm>
            <a:off x="6556248" y="2084832"/>
            <a:ext cx="457200" cy="457200"/>
          </a:xfrm>
          <a:prstGeom prst="ellipse">
            <a:avLst/>
          </a:prstGeom>
          <a:solidFill>
            <a:srgbClr val="5F7F6C"/>
          </a:solidFill>
          <a:ln w="12700">
            <a:solidFill>
              <a:srgbClr val="5F7F6C"/>
            </a:solidFill>
            <a:prstDash val="solid"/>
          </a:ln>
        </p:spPr>
      </p:sp>
      <p:sp>
        <p:nvSpPr>
          <p:cNvPr id="12" name="Text 10"/>
          <p:cNvSpPr/>
          <p:nvPr/>
        </p:nvSpPr>
        <p:spPr>
          <a:xfrm>
            <a:off x="6556248" y="20848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3" name="Text 11"/>
          <p:cNvSpPr/>
          <p:nvPr/>
        </p:nvSpPr>
        <p:spPr>
          <a:xfrm>
            <a:off x="7159752" y="2103120"/>
            <a:ext cx="4114800" cy="384048"/>
          </a:xfrm>
          <a:prstGeom prst="rect">
            <a:avLst/>
          </a:prstGeom>
          <a:noFill/>
          <a:ln/>
        </p:spPr>
        <p:txBody>
          <a:bodyPr wrap="square" lIns="0" tIns="0" rIns="0" bIns="0" rtlCol="0" anchor="ctr"/>
          <a:lstStyle/>
          <a:p>
            <a:pPr indent="0" marL="0">
              <a:buNone/>
            </a:pPr>
            <a:r>
              <a:rPr lang="en-US" sz="1500" b="1" dirty="0">
                <a:solidFill>
                  <a:srgbClr val="2E241E"/>
                </a:solidFill>
                <a:latin typeface="Calibri" pitchFamily="34" charset="0"/>
                <a:ea typeface="Calibri" pitchFamily="34" charset="-122"/>
                <a:cs typeface="Calibri" pitchFamily="34" charset="-120"/>
              </a:rPr>
              <a:t>What the shift literature predicts</a:t>
            </a:r>
            <a:endParaRPr lang="en-US" sz="1500" dirty="0"/>
          </a:p>
        </p:txBody>
      </p:sp>
      <p:sp>
        <p:nvSpPr>
          <p:cNvPr id="14" name="Text 12"/>
          <p:cNvSpPr/>
          <p:nvPr/>
        </p:nvSpPr>
        <p:spPr>
          <a:xfrm>
            <a:off x="6556248" y="2697480"/>
            <a:ext cx="4700016" cy="1280160"/>
          </a:xfrm>
          <a:prstGeom prst="rect">
            <a:avLst/>
          </a:prstGeom>
          <a:noFill/>
          <a:ln/>
        </p:spPr>
        <p:txBody>
          <a:bodyPr wrap="square" lIns="0" tIns="0" rIns="0" bIns="0" rtlCol="0" anchor="t"/>
          <a:lstStyle/>
          <a:p>
            <a:pPr indent="0" marL="0">
              <a:lnSpc>
                <a:spcPct val="110000"/>
              </a:lnSpc>
              <a:buNone/>
            </a:pPr>
            <a:r>
              <a:rPr lang="en-US" sz="1350" dirty="0">
                <a:solidFill>
                  <a:srgbClr val="3A322C"/>
                </a:solidFill>
                <a:latin typeface="Calibri" pitchFamily="34" charset="0"/>
                <a:ea typeface="Calibri" pitchFamily="34" charset="-122"/>
                <a:cs typeface="Calibri" pitchFamily="34" charset="-120"/>
              </a:rPr>
              <a:t>Dataset-shift theory and cross-cultural research both expect the relationship between predictors and turnover to change across labour markets — so transfer should degrade.</a:t>
            </a:r>
            <a:endParaRPr lang="en-US" sz="1350" dirty="0"/>
          </a:p>
        </p:txBody>
      </p:sp>
      <p:sp>
        <p:nvSpPr>
          <p:cNvPr id="15" name="Shape 13"/>
          <p:cNvSpPr/>
          <p:nvPr/>
        </p:nvSpPr>
        <p:spPr>
          <a:xfrm>
            <a:off x="640080" y="4251960"/>
            <a:ext cx="10911535" cy="1463040"/>
          </a:xfrm>
          <a:prstGeom prst="roundRect">
            <a:avLst>
              <a:gd name="adj" fmla="val 3750"/>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16" name="Text 14"/>
          <p:cNvSpPr/>
          <p:nvPr/>
        </p:nvSpPr>
        <p:spPr>
          <a:xfrm>
            <a:off x="1097280" y="4434840"/>
            <a:ext cx="9997135" cy="384048"/>
          </a:xfrm>
          <a:prstGeom prst="rect">
            <a:avLst/>
          </a:prstGeom>
          <a:noFill/>
          <a:ln/>
        </p:spPr>
        <p:txBody>
          <a:bodyPr wrap="square" lIns="0" tIns="0" rIns="0" bIns="0" rtlCol="0" anchor="ctr"/>
          <a:lstStyle/>
          <a:p>
            <a:pPr indent="0" marL="0">
              <a:buNone/>
            </a:pPr>
            <a:r>
              <a:rPr lang="en-US" sz="1500" dirty="0">
                <a:solidFill>
                  <a:srgbClr val="E0E1CE"/>
                </a:solidFill>
                <a:latin typeface="Calibri" pitchFamily="34" charset="0"/>
                <a:ea typeface="Calibri" pitchFamily="34" charset="-122"/>
                <a:cs typeface="Calibri" pitchFamily="34" charset="-120"/>
              </a:rPr>
              <a:t>Two literatures disagree, and the disagreement has not been settled empirically for this region.</a:t>
            </a:r>
            <a:endParaRPr lang="en-US" sz="1500" dirty="0"/>
          </a:p>
        </p:txBody>
      </p:sp>
      <p:sp>
        <p:nvSpPr>
          <p:cNvPr id="17" name="Text 15"/>
          <p:cNvSpPr/>
          <p:nvPr/>
        </p:nvSpPr>
        <p:spPr>
          <a:xfrm>
            <a:off x="1097280" y="4892040"/>
            <a:ext cx="9997135"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This project runs the test both of them defer.</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4</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Research questions</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As stated in the interim report; Chapter 1 records how they evolved from the proposal</a:t>
            </a:r>
            <a:endParaRPr lang="en-US" sz="1400" dirty="0"/>
          </a:p>
        </p:txBody>
      </p:sp>
      <p:sp>
        <p:nvSpPr>
          <p:cNvPr id="5" name="Shape 3"/>
          <p:cNvSpPr/>
          <p:nvPr/>
        </p:nvSpPr>
        <p:spPr>
          <a:xfrm>
            <a:off x="640080" y="1920240"/>
            <a:ext cx="10911535"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Shape 4"/>
          <p:cNvSpPr/>
          <p:nvPr/>
        </p:nvSpPr>
        <p:spPr>
          <a:xfrm>
            <a:off x="969264" y="2194560"/>
            <a:ext cx="548640" cy="548640"/>
          </a:xfrm>
          <a:prstGeom prst="ellipse">
            <a:avLst/>
          </a:prstGeom>
          <a:solidFill>
            <a:srgbClr val="B85042"/>
          </a:solidFill>
          <a:ln w="12700">
            <a:solidFill>
              <a:srgbClr val="B85042"/>
            </a:solidFill>
            <a:prstDash val="solid"/>
          </a:ln>
        </p:spPr>
      </p:sp>
      <p:sp>
        <p:nvSpPr>
          <p:cNvPr id="7" name="Text 5"/>
          <p:cNvSpPr/>
          <p:nvPr/>
        </p:nvSpPr>
        <p:spPr>
          <a:xfrm>
            <a:off x="969264" y="21945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737360" y="2048256"/>
            <a:ext cx="9357055" cy="841248"/>
          </a:xfrm>
          <a:prstGeom prst="rect">
            <a:avLst/>
          </a:prstGeom>
          <a:noFill/>
          <a:ln/>
        </p:spPr>
        <p:txBody>
          <a:bodyPr wrap="square" lIns="0" tIns="0" rIns="0" bIns="0" rtlCol="0" anchor="ctr"/>
          <a:lstStyle/>
          <a:p>
            <a:pPr indent="0" marL="0">
              <a:lnSpc>
                <a:spcPct val="110000"/>
              </a:lnSpc>
              <a:buNone/>
            </a:pPr>
            <a:r>
              <a:rPr lang="en-US" sz="1500" dirty="0">
                <a:solidFill>
                  <a:srgbClr val="3A322C"/>
                </a:solidFill>
                <a:latin typeface="Calibri" pitchFamily="34" charset="0"/>
                <a:ea typeface="Calibri" pitchFamily="34" charset="-122"/>
                <a:cs typeface="Calibri" pitchFamily="34" charset="-120"/>
              </a:rPr>
              <a:t>Which predictors matter for the Sri Lankan SME context, and how far do attrition patterns transfer from international data?</a:t>
            </a:r>
            <a:endParaRPr lang="en-US" sz="1500" dirty="0"/>
          </a:p>
        </p:txBody>
      </p:sp>
      <p:sp>
        <p:nvSpPr>
          <p:cNvPr id="9" name="Shape 7"/>
          <p:cNvSpPr/>
          <p:nvPr/>
        </p:nvSpPr>
        <p:spPr>
          <a:xfrm>
            <a:off x="640080" y="3246120"/>
            <a:ext cx="10911535"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0" name="Shape 8"/>
          <p:cNvSpPr/>
          <p:nvPr/>
        </p:nvSpPr>
        <p:spPr>
          <a:xfrm>
            <a:off x="969264" y="3520440"/>
            <a:ext cx="548640" cy="548640"/>
          </a:xfrm>
          <a:prstGeom prst="ellipse">
            <a:avLst/>
          </a:prstGeom>
          <a:solidFill>
            <a:srgbClr val="5F7F6C"/>
          </a:solidFill>
          <a:ln w="12700">
            <a:solidFill>
              <a:srgbClr val="5F7F6C"/>
            </a:solidFill>
            <a:prstDash val="solid"/>
          </a:ln>
        </p:spPr>
      </p:sp>
      <p:sp>
        <p:nvSpPr>
          <p:cNvPr id="11" name="Text 9"/>
          <p:cNvSpPr/>
          <p:nvPr/>
        </p:nvSpPr>
        <p:spPr>
          <a:xfrm>
            <a:off x="969264" y="35204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737360" y="3374136"/>
            <a:ext cx="9357055" cy="841248"/>
          </a:xfrm>
          <a:prstGeom prst="rect">
            <a:avLst/>
          </a:prstGeom>
          <a:noFill/>
          <a:ln/>
        </p:spPr>
        <p:txBody>
          <a:bodyPr wrap="square" lIns="0" tIns="0" rIns="0" bIns="0" rtlCol="0" anchor="ctr"/>
          <a:lstStyle/>
          <a:p>
            <a:pPr indent="0" marL="0">
              <a:lnSpc>
                <a:spcPct val="110000"/>
              </a:lnSpc>
              <a:buNone/>
            </a:pPr>
            <a:r>
              <a:rPr lang="en-US" sz="1500" dirty="0">
                <a:solidFill>
                  <a:srgbClr val="3A322C"/>
                </a:solidFill>
                <a:latin typeface="Calibri" pitchFamily="34" charset="0"/>
                <a:ea typeface="Calibri" pitchFamily="34" charset="-122"/>
                <a:cs typeface="Calibri" pitchFamily="34" charset="-120"/>
              </a:rPr>
              <a:t>How far does a serverless architecture reduce operational cost, and can it stay within LKR 10,000 per month?</a:t>
            </a:r>
            <a:endParaRPr lang="en-US" sz="1500" dirty="0"/>
          </a:p>
        </p:txBody>
      </p:sp>
      <p:sp>
        <p:nvSpPr>
          <p:cNvPr id="13" name="Shape 11"/>
          <p:cNvSpPr/>
          <p:nvPr/>
        </p:nvSpPr>
        <p:spPr>
          <a:xfrm>
            <a:off x="640080" y="4572000"/>
            <a:ext cx="10911535"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4" name="Shape 12"/>
          <p:cNvSpPr/>
          <p:nvPr/>
        </p:nvSpPr>
        <p:spPr>
          <a:xfrm>
            <a:off x="969264" y="4846320"/>
            <a:ext cx="548640" cy="548640"/>
          </a:xfrm>
          <a:prstGeom prst="ellipse">
            <a:avLst/>
          </a:prstGeom>
          <a:solidFill>
            <a:srgbClr val="B85042"/>
          </a:solidFill>
          <a:ln w="12700">
            <a:solidFill>
              <a:srgbClr val="B85042"/>
            </a:solidFill>
            <a:prstDash val="solid"/>
          </a:ln>
        </p:spPr>
      </p:sp>
      <p:sp>
        <p:nvSpPr>
          <p:cNvPr id="15" name="Text 13"/>
          <p:cNvSpPr/>
          <p:nvPr/>
        </p:nvSpPr>
        <p:spPr>
          <a:xfrm>
            <a:off x="969264" y="4846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737360" y="4700016"/>
            <a:ext cx="9357055" cy="841248"/>
          </a:xfrm>
          <a:prstGeom prst="rect">
            <a:avLst/>
          </a:prstGeom>
          <a:noFill/>
          <a:ln/>
        </p:spPr>
        <p:txBody>
          <a:bodyPr wrap="square" lIns="0" tIns="0" rIns="0" bIns="0" rtlCol="0" anchor="ctr"/>
          <a:lstStyle/>
          <a:p>
            <a:pPr indent="0" marL="0">
              <a:lnSpc>
                <a:spcPct val="110000"/>
              </a:lnSpc>
              <a:buNone/>
            </a:pPr>
            <a:r>
              <a:rPr lang="en-US" sz="1500" dirty="0">
                <a:solidFill>
                  <a:srgbClr val="3A322C"/>
                </a:solidFill>
                <a:latin typeface="Calibri" pitchFamily="34" charset="0"/>
                <a:ea typeface="Calibri" pitchFamily="34" charset="-122"/>
                <a:cs typeface="Calibri" pitchFamily="34" charset="-120"/>
              </a:rPr>
              <a:t>Can a hybrid of real international and calibrated synthetic data produce a usable classifier for a low-volume environment?</a:t>
            </a:r>
            <a:endParaRPr lang="en-US" sz="1500" dirty="0"/>
          </a:p>
        </p:txBody>
      </p:sp>
      <p:sp>
        <p:nvSpPr>
          <p:cNvPr id="17" name="Text 15"/>
          <p:cNvSpPr/>
          <p:nvPr/>
        </p:nvSpPr>
        <p:spPr>
          <a:xfrm>
            <a:off x="640080" y="5943600"/>
            <a:ext cx="10911535" cy="365760"/>
          </a:xfrm>
          <a:prstGeom prst="rect">
            <a:avLst/>
          </a:prstGeom>
          <a:noFill/>
          <a:ln/>
        </p:spPr>
        <p:txBody>
          <a:bodyPr wrap="square" lIns="0" tIns="0" rIns="0" bIns="0" rtlCol="0" anchor="ctr"/>
          <a:lstStyle/>
          <a:p>
            <a:pPr indent="0" marL="0">
              <a:buNone/>
            </a:pPr>
            <a:r>
              <a:rPr lang="en-US" sz="1300" i="1" dirty="0">
                <a:solidFill>
                  <a:srgbClr val="7A7167"/>
                </a:solidFill>
                <a:latin typeface="Calibri" pitchFamily="34" charset="0"/>
                <a:ea typeface="Calibri" pitchFamily="34" charset="-122"/>
                <a:cs typeface="Calibri" pitchFamily="34" charset="-120"/>
              </a:rPr>
              <a:t>Each is answered in Chapter 6 in a single sentence first, then elaborated. Two of the three answers are negative.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5</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Methodology</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Design Science Research, six activities mapped to project phases</a:t>
            </a:r>
            <a:endParaRPr lang="en-US" sz="1400" dirty="0"/>
          </a:p>
        </p:txBody>
      </p:sp>
      <p:sp>
        <p:nvSpPr>
          <p:cNvPr id="5" name="Shape 3"/>
          <p:cNvSpPr/>
          <p:nvPr/>
        </p:nvSpPr>
        <p:spPr>
          <a:xfrm>
            <a:off x="640080" y="1874520"/>
            <a:ext cx="3465576" cy="1783080"/>
          </a:xfrm>
          <a:prstGeom prst="roundRect">
            <a:avLst>
              <a:gd name="adj" fmla="val 307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Shape 4"/>
          <p:cNvSpPr/>
          <p:nvPr/>
        </p:nvSpPr>
        <p:spPr>
          <a:xfrm>
            <a:off x="914400" y="2112264"/>
            <a:ext cx="475488" cy="475488"/>
          </a:xfrm>
          <a:prstGeom prst="ellipse">
            <a:avLst/>
          </a:prstGeom>
          <a:solidFill>
            <a:srgbClr val="5F7F6C"/>
          </a:solidFill>
          <a:ln w="12700">
            <a:solidFill>
              <a:srgbClr val="5F7F6C"/>
            </a:solidFill>
            <a:prstDash val="solid"/>
          </a:ln>
        </p:spPr>
      </p:sp>
      <p:sp>
        <p:nvSpPr>
          <p:cNvPr id="7" name="Text 5"/>
          <p:cNvSpPr/>
          <p:nvPr/>
        </p:nvSpPr>
        <p:spPr>
          <a:xfrm>
            <a:off x="914400" y="21122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14400" y="2679192"/>
            <a:ext cx="2926080" cy="32004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Problem identification</a:t>
            </a:r>
            <a:endParaRPr lang="en-US" sz="1450" dirty="0"/>
          </a:p>
        </p:txBody>
      </p:sp>
      <p:sp>
        <p:nvSpPr>
          <p:cNvPr id="9" name="Text 7"/>
          <p:cNvSpPr/>
          <p:nvPr/>
        </p:nvSpPr>
        <p:spPr>
          <a:xfrm>
            <a:off x="914400" y="2990088"/>
            <a:ext cx="2926080" cy="566928"/>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SME cost and data constraints established from the Sri Lankan context</a:t>
            </a:r>
            <a:endParaRPr lang="en-US" sz="1150" dirty="0"/>
          </a:p>
        </p:txBody>
      </p:sp>
      <p:sp>
        <p:nvSpPr>
          <p:cNvPr id="10" name="Shape 8"/>
          <p:cNvSpPr/>
          <p:nvPr/>
        </p:nvSpPr>
        <p:spPr>
          <a:xfrm>
            <a:off x="4379976" y="1874520"/>
            <a:ext cx="3465576" cy="1783080"/>
          </a:xfrm>
          <a:prstGeom prst="roundRect">
            <a:avLst>
              <a:gd name="adj" fmla="val 307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1" name="Shape 9"/>
          <p:cNvSpPr/>
          <p:nvPr/>
        </p:nvSpPr>
        <p:spPr>
          <a:xfrm>
            <a:off x="4654296" y="2112264"/>
            <a:ext cx="475488" cy="475488"/>
          </a:xfrm>
          <a:prstGeom prst="ellipse">
            <a:avLst/>
          </a:prstGeom>
          <a:solidFill>
            <a:srgbClr val="5F7F6C"/>
          </a:solidFill>
          <a:ln w="12700">
            <a:solidFill>
              <a:srgbClr val="5F7F6C"/>
            </a:solidFill>
            <a:prstDash val="solid"/>
          </a:ln>
        </p:spPr>
      </p:sp>
      <p:sp>
        <p:nvSpPr>
          <p:cNvPr id="12" name="Text 10"/>
          <p:cNvSpPr/>
          <p:nvPr/>
        </p:nvSpPr>
        <p:spPr>
          <a:xfrm>
            <a:off x="4654296" y="21122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654296" y="2679192"/>
            <a:ext cx="2926080" cy="32004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Define objectives</a:t>
            </a:r>
            <a:endParaRPr lang="en-US" sz="1450" dirty="0"/>
          </a:p>
        </p:txBody>
      </p:sp>
      <p:sp>
        <p:nvSpPr>
          <p:cNvPr id="14" name="Text 12"/>
          <p:cNvSpPr/>
          <p:nvPr/>
        </p:nvSpPr>
        <p:spPr>
          <a:xfrm>
            <a:off x="4654296" y="2990088"/>
            <a:ext cx="2926080" cy="566928"/>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Six measurable objectives, O1 to O6, each with a stated pass criterion</a:t>
            </a:r>
            <a:endParaRPr lang="en-US" sz="1150" dirty="0"/>
          </a:p>
        </p:txBody>
      </p:sp>
      <p:sp>
        <p:nvSpPr>
          <p:cNvPr id="15" name="Shape 13"/>
          <p:cNvSpPr/>
          <p:nvPr/>
        </p:nvSpPr>
        <p:spPr>
          <a:xfrm>
            <a:off x="8119872" y="1874520"/>
            <a:ext cx="3465576" cy="1783080"/>
          </a:xfrm>
          <a:prstGeom prst="roundRect">
            <a:avLst>
              <a:gd name="adj" fmla="val 307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6" name="Shape 14"/>
          <p:cNvSpPr/>
          <p:nvPr/>
        </p:nvSpPr>
        <p:spPr>
          <a:xfrm>
            <a:off x="8394192" y="2112264"/>
            <a:ext cx="475488" cy="475488"/>
          </a:xfrm>
          <a:prstGeom prst="ellipse">
            <a:avLst/>
          </a:prstGeom>
          <a:solidFill>
            <a:srgbClr val="5F7F6C"/>
          </a:solidFill>
          <a:ln w="12700">
            <a:solidFill>
              <a:srgbClr val="5F7F6C"/>
            </a:solidFill>
            <a:prstDash val="solid"/>
          </a:ln>
        </p:spPr>
      </p:sp>
      <p:sp>
        <p:nvSpPr>
          <p:cNvPr id="17" name="Text 15"/>
          <p:cNvSpPr/>
          <p:nvPr/>
        </p:nvSpPr>
        <p:spPr>
          <a:xfrm>
            <a:off x="8394192" y="21122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394192" y="2679192"/>
            <a:ext cx="2926080" cy="32004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Design &amp; development</a:t>
            </a:r>
            <a:endParaRPr lang="en-US" sz="1450" dirty="0"/>
          </a:p>
        </p:txBody>
      </p:sp>
      <p:sp>
        <p:nvSpPr>
          <p:cNvPr id="19" name="Text 17"/>
          <p:cNvSpPr/>
          <p:nvPr/>
        </p:nvSpPr>
        <p:spPr>
          <a:xfrm>
            <a:off x="8394192" y="2990088"/>
            <a:ext cx="2926080" cy="566928"/>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HR platform, ML pipeline, inference service and Pulse Check</a:t>
            </a:r>
            <a:endParaRPr lang="en-US" sz="1150" dirty="0"/>
          </a:p>
        </p:txBody>
      </p:sp>
      <p:sp>
        <p:nvSpPr>
          <p:cNvPr id="20" name="Shape 18"/>
          <p:cNvSpPr/>
          <p:nvPr/>
        </p:nvSpPr>
        <p:spPr>
          <a:xfrm>
            <a:off x="640080" y="3931920"/>
            <a:ext cx="3465576" cy="1783080"/>
          </a:xfrm>
          <a:prstGeom prst="roundRect">
            <a:avLst>
              <a:gd name="adj" fmla="val 3077"/>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21" name="Shape 19"/>
          <p:cNvSpPr/>
          <p:nvPr/>
        </p:nvSpPr>
        <p:spPr>
          <a:xfrm>
            <a:off x="914400" y="4169664"/>
            <a:ext cx="475488" cy="475488"/>
          </a:xfrm>
          <a:prstGeom prst="ellipse">
            <a:avLst/>
          </a:prstGeom>
          <a:solidFill>
            <a:srgbClr val="2E241E"/>
          </a:solidFill>
          <a:ln w="12700">
            <a:solidFill>
              <a:srgbClr val="2E241E"/>
            </a:solidFill>
            <a:prstDash val="solid"/>
          </a:ln>
        </p:spPr>
      </p:sp>
      <p:sp>
        <p:nvSpPr>
          <p:cNvPr id="22" name="Text 20"/>
          <p:cNvSpPr/>
          <p:nvPr/>
        </p:nvSpPr>
        <p:spPr>
          <a:xfrm>
            <a:off x="914400" y="41696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914400" y="4736592"/>
            <a:ext cx="2926080" cy="32004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Demonstration</a:t>
            </a:r>
            <a:endParaRPr lang="en-US" sz="1450" dirty="0"/>
          </a:p>
        </p:txBody>
      </p:sp>
      <p:sp>
        <p:nvSpPr>
          <p:cNvPr id="24" name="Text 22"/>
          <p:cNvSpPr/>
          <p:nvPr/>
        </p:nvSpPr>
        <p:spPr>
          <a:xfrm>
            <a:off x="914400" y="5047488"/>
            <a:ext cx="2926080" cy="566928"/>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Deployed to Cloud Run and exercised end to end on live infrastructure</a:t>
            </a:r>
            <a:endParaRPr lang="en-US" sz="1150" dirty="0"/>
          </a:p>
        </p:txBody>
      </p:sp>
      <p:sp>
        <p:nvSpPr>
          <p:cNvPr id="25" name="Shape 23"/>
          <p:cNvSpPr/>
          <p:nvPr/>
        </p:nvSpPr>
        <p:spPr>
          <a:xfrm>
            <a:off x="4379976" y="3931920"/>
            <a:ext cx="3465576" cy="1783080"/>
          </a:xfrm>
          <a:prstGeom prst="roundRect">
            <a:avLst>
              <a:gd name="adj" fmla="val 3077"/>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26" name="Shape 24"/>
          <p:cNvSpPr/>
          <p:nvPr/>
        </p:nvSpPr>
        <p:spPr>
          <a:xfrm>
            <a:off x="4654296" y="4169664"/>
            <a:ext cx="475488" cy="475488"/>
          </a:xfrm>
          <a:prstGeom prst="ellipse">
            <a:avLst/>
          </a:prstGeom>
          <a:solidFill>
            <a:srgbClr val="2E241E"/>
          </a:solidFill>
          <a:ln w="12700">
            <a:solidFill>
              <a:srgbClr val="2E241E"/>
            </a:solidFill>
            <a:prstDash val="solid"/>
          </a:ln>
        </p:spPr>
      </p:sp>
      <p:sp>
        <p:nvSpPr>
          <p:cNvPr id="27" name="Text 25"/>
          <p:cNvSpPr/>
          <p:nvPr/>
        </p:nvSpPr>
        <p:spPr>
          <a:xfrm>
            <a:off x="4654296" y="41696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4654296" y="4736592"/>
            <a:ext cx="2926080" cy="32004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Evaluation</a:t>
            </a:r>
            <a:endParaRPr lang="en-US" sz="1450" dirty="0"/>
          </a:p>
        </p:txBody>
      </p:sp>
      <p:sp>
        <p:nvSpPr>
          <p:cNvPr id="29" name="Text 27"/>
          <p:cNvSpPr/>
          <p:nvPr/>
        </p:nvSpPr>
        <p:spPr>
          <a:xfrm>
            <a:off x="4654296" y="5047488"/>
            <a:ext cx="2926080" cy="566928"/>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One script per question, each emitting a machine-readable report</a:t>
            </a:r>
            <a:endParaRPr lang="en-US" sz="1150" dirty="0"/>
          </a:p>
        </p:txBody>
      </p:sp>
      <p:sp>
        <p:nvSpPr>
          <p:cNvPr id="30" name="Shape 28"/>
          <p:cNvSpPr/>
          <p:nvPr/>
        </p:nvSpPr>
        <p:spPr>
          <a:xfrm>
            <a:off x="8119872" y="3931920"/>
            <a:ext cx="3465576" cy="1783080"/>
          </a:xfrm>
          <a:prstGeom prst="roundRect">
            <a:avLst>
              <a:gd name="adj" fmla="val 3077"/>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31" name="Shape 29"/>
          <p:cNvSpPr/>
          <p:nvPr/>
        </p:nvSpPr>
        <p:spPr>
          <a:xfrm>
            <a:off x="8394192" y="4169664"/>
            <a:ext cx="475488" cy="475488"/>
          </a:xfrm>
          <a:prstGeom prst="ellipse">
            <a:avLst/>
          </a:prstGeom>
          <a:solidFill>
            <a:srgbClr val="2E241E"/>
          </a:solidFill>
          <a:ln w="12700">
            <a:solidFill>
              <a:srgbClr val="2E241E"/>
            </a:solidFill>
            <a:prstDash val="solid"/>
          </a:ln>
        </p:spPr>
      </p:sp>
      <p:sp>
        <p:nvSpPr>
          <p:cNvPr id="32" name="Text 30"/>
          <p:cNvSpPr/>
          <p:nvPr/>
        </p:nvSpPr>
        <p:spPr>
          <a:xfrm>
            <a:off x="8394192" y="416966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8394192" y="4736592"/>
            <a:ext cx="2926080" cy="32004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Communication</a:t>
            </a:r>
            <a:endParaRPr lang="en-US" sz="1450" dirty="0"/>
          </a:p>
        </p:txBody>
      </p:sp>
      <p:sp>
        <p:nvSpPr>
          <p:cNvPr id="34" name="Text 32"/>
          <p:cNvSpPr/>
          <p:nvPr/>
        </p:nvSpPr>
        <p:spPr>
          <a:xfrm>
            <a:off x="8394192" y="5047488"/>
            <a:ext cx="2926080" cy="566928"/>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This dissertation, the artefacts, and the reported negative results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6</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Data strategy</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Weighted multi-source training, validated on held-out real Sri Lankan data</a:t>
            </a:r>
            <a:endParaRPr lang="en-US" sz="1400" dirty="0"/>
          </a:p>
        </p:txBody>
      </p:sp>
      <p:sp>
        <p:nvSpPr>
          <p:cNvPr id="5" name="Shape 3"/>
          <p:cNvSpPr/>
          <p:nvPr/>
        </p:nvSpPr>
        <p:spPr>
          <a:xfrm>
            <a:off x="640080" y="1874520"/>
            <a:ext cx="3465576" cy="2148840"/>
          </a:xfrm>
          <a:prstGeom prst="roundRect">
            <a:avLst>
              <a:gd name="adj" fmla="val 255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Text 4"/>
          <p:cNvSpPr/>
          <p:nvPr/>
        </p:nvSpPr>
        <p:spPr>
          <a:xfrm>
            <a:off x="932688" y="2029968"/>
            <a:ext cx="2926080" cy="640080"/>
          </a:xfrm>
          <a:prstGeom prst="rect">
            <a:avLst/>
          </a:prstGeom>
          <a:noFill/>
          <a:ln/>
        </p:spPr>
        <p:txBody>
          <a:bodyPr wrap="square" lIns="0" tIns="0" rIns="0" bIns="0" rtlCol="0" anchor="ctr"/>
          <a:lstStyle/>
          <a:p>
            <a:pPr indent="0" marL="0">
              <a:buNone/>
            </a:pPr>
            <a:r>
              <a:rPr lang="en-US" sz="3200" b="1" dirty="0">
                <a:solidFill>
                  <a:srgbClr val="2E241E"/>
                </a:solidFill>
                <a:latin typeface="Cambria" pitchFamily="34" charset="0"/>
                <a:ea typeface="Cambria" pitchFamily="34" charset="-122"/>
                <a:cs typeface="Cambria" pitchFamily="34" charset="-120"/>
              </a:rPr>
              <a:t>2,820</a:t>
            </a:r>
            <a:endParaRPr lang="en-US" sz="3200" dirty="0"/>
          </a:p>
        </p:txBody>
      </p:sp>
      <p:sp>
        <p:nvSpPr>
          <p:cNvPr id="7" name="Text 5"/>
          <p:cNvSpPr/>
          <p:nvPr/>
        </p:nvSpPr>
        <p:spPr>
          <a:xfrm>
            <a:off x="932688" y="2688336"/>
            <a:ext cx="2926080" cy="310896"/>
          </a:xfrm>
          <a:prstGeom prst="rect">
            <a:avLst/>
          </a:prstGeom>
          <a:noFill/>
          <a:ln/>
        </p:spPr>
        <p:txBody>
          <a:bodyPr wrap="square" lIns="0" tIns="0" rIns="0" bIns="0" rtlCol="0" anchor="ctr"/>
          <a:lstStyle/>
          <a:p>
            <a:pPr indent="0" marL="0">
              <a:buNone/>
            </a:pPr>
            <a:r>
              <a:rPr lang="en-US" sz="1400" b="1" dirty="0">
                <a:solidFill>
                  <a:srgbClr val="2E241E"/>
                </a:solidFill>
                <a:latin typeface="Calibri" pitchFamily="34" charset="0"/>
                <a:ea typeface="Calibri" pitchFamily="34" charset="-122"/>
                <a:cs typeface="Calibri" pitchFamily="34" charset="-120"/>
              </a:rPr>
              <a:t>Training master</a:t>
            </a:r>
            <a:endParaRPr lang="en-US" sz="1400" dirty="0"/>
          </a:p>
        </p:txBody>
      </p:sp>
      <p:sp>
        <p:nvSpPr>
          <p:cNvPr id="8" name="Text 6"/>
          <p:cNvSpPr/>
          <p:nvPr/>
        </p:nvSpPr>
        <p:spPr>
          <a:xfrm>
            <a:off x="932688" y="3035808"/>
            <a:ext cx="2926080" cy="868680"/>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Saudi real 1,191  +  Russian real 1,129  +  calibrated synthetic 500</a:t>
            </a:r>
            <a:endParaRPr lang="en-US" sz="1150" dirty="0"/>
          </a:p>
        </p:txBody>
      </p:sp>
      <p:sp>
        <p:nvSpPr>
          <p:cNvPr id="9" name="Shape 7"/>
          <p:cNvSpPr/>
          <p:nvPr/>
        </p:nvSpPr>
        <p:spPr>
          <a:xfrm>
            <a:off x="4379976" y="1874520"/>
            <a:ext cx="3465576" cy="2148840"/>
          </a:xfrm>
          <a:prstGeom prst="roundRect">
            <a:avLst>
              <a:gd name="adj" fmla="val 255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0" name="Text 8"/>
          <p:cNvSpPr/>
          <p:nvPr/>
        </p:nvSpPr>
        <p:spPr>
          <a:xfrm>
            <a:off x="4672584" y="2029968"/>
            <a:ext cx="2926080" cy="640080"/>
          </a:xfrm>
          <a:prstGeom prst="rect">
            <a:avLst/>
          </a:prstGeom>
          <a:noFill/>
          <a:ln/>
        </p:spPr>
        <p:txBody>
          <a:bodyPr wrap="square" lIns="0" tIns="0" rIns="0" bIns="0" rtlCol="0" anchor="ctr"/>
          <a:lstStyle/>
          <a:p>
            <a:pPr indent="0" marL="0">
              <a:buNone/>
            </a:pPr>
            <a:r>
              <a:rPr lang="en-US" sz="3200" b="1" dirty="0">
                <a:solidFill>
                  <a:srgbClr val="5F7F6C"/>
                </a:solidFill>
                <a:latin typeface="Cambria" pitchFamily="34" charset="0"/>
                <a:ea typeface="Cambria" pitchFamily="34" charset="-122"/>
                <a:cs typeface="Cambria" pitchFamily="34" charset="-120"/>
              </a:rPr>
              <a:t>230</a:t>
            </a:r>
            <a:endParaRPr lang="en-US" sz="3200" dirty="0"/>
          </a:p>
        </p:txBody>
      </p:sp>
      <p:sp>
        <p:nvSpPr>
          <p:cNvPr id="11" name="Text 9"/>
          <p:cNvSpPr/>
          <p:nvPr/>
        </p:nvSpPr>
        <p:spPr>
          <a:xfrm>
            <a:off x="4672584" y="2688336"/>
            <a:ext cx="2926080" cy="310896"/>
          </a:xfrm>
          <a:prstGeom prst="rect">
            <a:avLst/>
          </a:prstGeom>
          <a:noFill/>
          <a:ln/>
        </p:spPr>
        <p:txBody>
          <a:bodyPr wrap="square" lIns="0" tIns="0" rIns="0" bIns="0" rtlCol="0" anchor="ctr"/>
          <a:lstStyle/>
          <a:p>
            <a:pPr indent="0" marL="0">
              <a:buNone/>
            </a:pPr>
            <a:r>
              <a:rPr lang="en-US" sz="1400" b="1" dirty="0">
                <a:solidFill>
                  <a:srgbClr val="2E241E"/>
                </a:solidFill>
                <a:latin typeface="Calibri" pitchFamily="34" charset="0"/>
                <a:ea typeface="Calibri" pitchFamily="34" charset="-122"/>
                <a:cs typeface="Calibri" pitchFamily="34" charset="-120"/>
              </a:rPr>
              <a:t>Sri Lankan validation</a:t>
            </a:r>
            <a:endParaRPr lang="en-US" sz="1400" dirty="0"/>
          </a:p>
        </p:txBody>
      </p:sp>
      <p:sp>
        <p:nvSpPr>
          <p:cNvPr id="12" name="Text 10"/>
          <p:cNvSpPr/>
          <p:nvPr/>
        </p:nvSpPr>
        <p:spPr>
          <a:xfrm>
            <a:off x="4672584" y="3035808"/>
            <a:ext cx="2926080" cy="868680"/>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33 positive cases (14.3%). Never used in training, at any stage.</a:t>
            </a:r>
            <a:endParaRPr lang="en-US" sz="1150" dirty="0"/>
          </a:p>
        </p:txBody>
      </p:sp>
      <p:sp>
        <p:nvSpPr>
          <p:cNvPr id="13" name="Shape 11"/>
          <p:cNvSpPr/>
          <p:nvPr/>
        </p:nvSpPr>
        <p:spPr>
          <a:xfrm>
            <a:off x="8119872" y="1874520"/>
            <a:ext cx="3465576" cy="2148840"/>
          </a:xfrm>
          <a:prstGeom prst="roundRect">
            <a:avLst>
              <a:gd name="adj" fmla="val 255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4" name="Text 12"/>
          <p:cNvSpPr/>
          <p:nvPr/>
        </p:nvSpPr>
        <p:spPr>
          <a:xfrm>
            <a:off x="8412480" y="2029968"/>
            <a:ext cx="2926080" cy="640080"/>
          </a:xfrm>
          <a:prstGeom prst="rect">
            <a:avLst/>
          </a:prstGeom>
          <a:noFill/>
          <a:ln/>
        </p:spPr>
        <p:txBody>
          <a:bodyPr wrap="square" lIns="0" tIns="0" rIns="0" bIns="0" rtlCol="0" anchor="ctr"/>
          <a:lstStyle/>
          <a:p>
            <a:pPr indent="0" marL="0">
              <a:buNone/>
            </a:pPr>
            <a:r>
              <a:rPr lang="en-US" sz="3200" b="1" dirty="0">
                <a:solidFill>
                  <a:srgbClr val="2E241E"/>
                </a:solidFill>
                <a:latin typeface="Cambria" pitchFamily="34" charset="0"/>
                <a:ea typeface="Cambria" pitchFamily="34" charset="-122"/>
                <a:cs typeface="Cambria" pitchFamily="34" charset="-120"/>
              </a:rPr>
              <a:t>1,470</a:t>
            </a:r>
            <a:endParaRPr lang="en-US" sz="3200" dirty="0"/>
          </a:p>
        </p:txBody>
      </p:sp>
      <p:sp>
        <p:nvSpPr>
          <p:cNvPr id="15" name="Text 13"/>
          <p:cNvSpPr/>
          <p:nvPr/>
        </p:nvSpPr>
        <p:spPr>
          <a:xfrm>
            <a:off x="8412480" y="2688336"/>
            <a:ext cx="2926080" cy="310896"/>
          </a:xfrm>
          <a:prstGeom prst="rect">
            <a:avLst/>
          </a:prstGeom>
          <a:noFill/>
          <a:ln/>
        </p:spPr>
        <p:txBody>
          <a:bodyPr wrap="square" lIns="0" tIns="0" rIns="0" bIns="0" rtlCol="0" anchor="ctr"/>
          <a:lstStyle/>
          <a:p>
            <a:pPr indent="0" marL="0">
              <a:buNone/>
            </a:pPr>
            <a:r>
              <a:rPr lang="en-US" sz="1400" b="1" dirty="0">
                <a:solidFill>
                  <a:srgbClr val="2E241E"/>
                </a:solidFill>
                <a:latin typeface="Calibri" pitchFamily="34" charset="0"/>
                <a:ea typeface="Calibri" pitchFamily="34" charset="-122"/>
                <a:cs typeface="Calibri" pitchFamily="34" charset="-120"/>
              </a:rPr>
              <a:t>IBM benchmark</a:t>
            </a:r>
            <a:endParaRPr lang="en-US" sz="1400" dirty="0"/>
          </a:p>
        </p:txBody>
      </p:sp>
      <p:sp>
        <p:nvSpPr>
          <p:cNvPr id="16" name="Text 14"/>
          <p:cNvSpPr/>
          <p:nvPr/>
        </p:nvSpPr>
        <p:spPr>
          <a:xfrm>
            <a:off x="8412480" y="3035808"/>
            <a:ext cx="2926080" cy="868680"/>
          </a:xfrm>
          <a:prstGeom prst="rect">
            <a:avLst/>
          </a:prstGeom>
          <a:noFill/>
          <a:ln/>
        </p:spPr>
        <p:txBody>
          <a:bodyPr wrap="square" lIns="0" tIns="0" rIns="0" bIns="0" rtlCol="0" anchor="t"/>
          <a:lstStyle/>
          <a:p>
            <a:pPr indent="0" marL="0">
              <a:lnSpc>
                <a:spcPct val="105000"/>
              </a:lnSpc>
              <a:buNone/>
            </a:pPr>
            <a:r>
              <a:rPr lang="en-US" sz="1150" dirty="0">
                <a:solidFill>
                  <a:srgbClr val="7A7167"/>
                </a:solidFill>
                <a:latin typeface="Calibri" pitchFamily="34" charset="0"/>
                <a:ea typeface="Calibri" pitchFamily="34" charset="-122"/>
                <a:cs typeface="Calibri" pitchFamily="34" charset="-120"/>
              </a:rPr>
              <a:t>Published comparison only. Never mixed into training or validation.</a:t>
            </a:r>
            <a:endParaRPr lang="en-US" sz="1150" dirty="0"/>
          </a:p>
        </p:txBody>
      </p:sp>
      <p:sp>
        <p:nvSpPr>
          <p:cNvPr id="17" name="Shape 15"/>
          <p:cNvSpPr/>
          <p:nvPr/>
        </p:nvSpPr>
        <p:spPr>
          <a:xfrm>
            <a:off x="640080" y="4315968"/>
            <a:ext cx="10911535" cy="1572768"/>
          </a:xfrm>
          <a:prstGeom prst="roundRect">
            <a:avLst>
              <a:gd name="adj" fmla="val 3488"/>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18" name="Shape 16"/>
          <p:cNvSpPr/>
          <p:nvPr/>
        </p:nvSpPr>
        <p:spPr>
          <a:xfrm>
            <a:off x="1024128" y="4736592"/>
            <a:ext cx="512064" cy="512064"/>
          </a:xfrm>
          <a:prstGeom prst="ellipse">
            <a:avLst/>
          </a:prstGeom>
          <a:solidFill>
            <a:srgbClr val="B85042"/>
          </a:solidFill>
          <a:ln w="12700">
            <a:solidFill>
              <a:srgbClr val="B85042"/>
            </a:solidFill>
            <a:prstDash val="solid"/>
          </a:ln>
        </p:spPr>
      </p:sp>
      <p:sp>
        <p:nvSpPr>
          <p:cNvPr id="19" name="Text 17"/>
          <p:cNvSpPr/>
          <p:nvPr/>
        </p:nvSpPr>
        <p:spPr>
          <a:xfrm>
            <a:off x="1024128" y="473659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8"/>
          <p:cNvSpPr/>
          <p:nvPr/>
        </p:nvSpPr>
        <p:spPr>
          <a:xfrm>
            <a:off x="1773936" y="4535424"/>
            <a:ext cx="9265615"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outcomes are not identically defined, and the design cannot separate the two effects.</a:t>
            </a:r>
            <a:endParaRPr lang="en-US" sz="1500" dirty="0"/>
          </a:p>
        </p:txBody>
      </p:sp>
      <p:sp>
        <p:nvSpPr>
          <p:cNvPr id="21" name="Text 19"/>
          <p:cNvSpPr/>
          <p:nvPr/>
        </p:nvSpPr>
        <p:spPr>
          <a:xfrm>
            <a:off x="1773936" y="4919472"/>
            <a:ext cx="9265615" cy="777240"/>
          </a:xfrm>
          <a:prstGeom prst="rect">
            <a:avLst/>
          </a:prstGeom>
          <a:noFill/>
          <a:ln/>
        </p:spPr>
        <p:txBody>
          <a:bodyPr wrap="square" lIns="0" tIns="0" rIns="0" bIns="0" rtlCol="0" anchor="t"/>
          <a:lstStyle/>
          <a:p>
            <a:pPr indent="0" marL="0">
              <a:lnSpc>
                <a:spcPct val="108000"/>
              </a:lnSpc>
              <a:buNone/>
            </a:pPr>
            <a:r>
              <a:rPr lang="en-US" sz="1250" dirty="0">
                <a:solidFill>
                  <a:srgbClr val="E0E1CE"/>
                </a:solidFill>
                <a:latin typeface="Calibri" pitchFamily="34" charset="0"/>
                <a:ea typeface="Calibri" pitchFamily="34" charset="-122"/>
                <a:cs typeface="Calibri" pitchFamily="34" charset="-120"/>
              </a:rPr>
              <a:t>The international sources record observed attrition. The Sri Lankan sample records turnover intention. Part of the transfer failure shown next is attributable to this label shift rather than to national context — which is declared throughout rather than hidden.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7</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What was built</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A production HR platform, a serverless inference service, and the capture mechanism that feeds it</a:t>
            </a:r>
            <a:endParaRPr lang="en-US" sz="1400" dirty="0"/>
          </a:p>
        </p:txBody>
      </p:sp>
      <p:sp>
        <p:nvSpPr>
          <p:cNvPr id="5" name="Shape 3"/>
          <p:cNvSpPr/>
          <p:nvPr/>
        </p:nvSpPr>
        <p:spPr>
          <a:xfrm>
            <a:off x="640080" y="1965960"/>
            <a:ext cx="2487168" cy="1417320"/>
          </a:xfrm>
          <a:prstGeom prst="roundRect">
            <a:avLst>
              <a:gd name="adj" fmla="val 3871"/>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Text 4"/>
          <p:cNvSpPr/>
          <p:nvPr/>
        </p:nvSpPr>
        <p:spPr>
          <a:xfrm>
            <a:off x="822960" y="2139696"/>
            <a:ext cx="2121408" cy="365760"/>
          </a:xfrm>
          <a:prstGeom prst="rect">
            <a:avLst/>
          </a:prstGeom>
          <a:noFill/>
          <a:ln/>
        </p:spPr>
        <p:txBody>
          <a:bodyPr wrap="square" lIns="0" tIns="0" rIns="0" bIns="0" rtlCol="0" anchor="ctr"/>
          <a:lstStyle/>
          <a:p>
            <a:pPr algn="ctr" indent="0" marL="0">
              <a:buNone/>
            </a:pPr>
            <a:r>
              <a:rPr lang="en-US" sz="1500" b="1" dirty="0">
                <a:solidFill>
                  <a:srgbClr val="5F7F6C"/>
                </a:solidFill>
                <a:latin typeface="Calibri" pitchFamily="34" charset="0"/>
                <a:ea typeface="Calibri" pitchFamily="34" charset="-122"/>
                <a:cs typeface="Calibri" pitchFamily="34" charset="-120"/>
              </a:rPr>
              <a:t>Pulse Check</a:t>
            </a:r>
            <a:endParaRPr lang="en-US" sz="1500" dirty="0"/>
          </a:p>
        </p:txBody>
      </p:sp>
      <p:sp>
        <p:nvSpPr>
          <p:cNvPr id="7" name="Text 5"/>
          <p:cNvSpPr/>
          <p:nvPr/>
        </p:nvSpPr>
        <p:spPr>
          <a:xfrm>
            <a:off x="822960" y="2542032"/>
            <a:ext cx="2121408" cy="731520"/>
          </a:xfrm>
          <a:prstGeom prst="rect">
            <a:avLst/>
          </a:prstGeom>
          <a:noFill/>
          <a:ln/>
        </p:spPr>
        <p:txBody>
          <a:bodyPr wrap="square" lIns="0" tIns="0" rIns="0" bIns="0" rtlCol="0" anchor="t"/>
          <a:lstStyle/>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16-item weekly</a:t>
            </a:r>
            <a:endParaRPr lang="en-US" sz="1150" dirty="0"/>
          </a:p>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micro-survey</a:t>
            </a:r>
            <a:endParaRPr lang="en-US" sz="1150" dirty="0"/>
          </a:p>
        </p:txBody>
      </p:sp>
      <p:sp>
        <p:nvSpPr>
          <p:cNvPr id="8" name="Shape 6"/>
          <p:cNvSpPr/>
          <p:nvPr/>
        </p:nvSpPr>
        <p:spPr>
          <a:xfrm>
            <a:off x="3191256" y="2551176"/>
            <a:ext cx="292608" cy="256032"/>
          </a:xfrm>
          <a:prstGeom prst="rightArrow">
            <a:avLst/>
          </a:prstGeom>
          <a:solidFill>
            <a:srgbClr val="A7BEAE"/>
          </a:solidFill>
          <a:ln w="12700">
            <a:solidFill>
              <a:srgbClr val="A7BEAE"/>
            </a:solidFill>
            <a:prstDash val="solid"/>
          </a:ln>
        </p:spPr>
      </p:sp>
      <p:sp>
        <p:nvSpPr>
          <p:cNvPr id="9" name="Shape 7"/>
          <p:cNvSpPr/>
          <p:nvPr/>
        </p:nvSpPr>
        <p:spPr>
          <a:xfrm>
            <a:off x="3529584" y="1965960"/>
            <a:ext cx="2487168" cy="1417320"/>
          </a:xfrm>
          <a:prstGeom prst="roundRect">
            <a:avLst>
              <a:gd name="adj" fmla="val 3871"/>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0" name="Text 8"/>
          <p:cNvSpPr/>
          <p:nvPr/>
        </p:nvSpPr>
        <p:spPr>
          <a:xfrm>
            <a:off x="3712464" y="2139696"/>
            <a:ext cx="2121408" cy="365760"/>
          </a:xfrm>
          <a:prstGeom prst="rect">
            <a:avLst/>
          </a:prstGeom>
          <a:noFill/>
          <a:ln/>
        </p:spPr>
        <p:txBody>
          <a:bodyPr wrap="square" lIns="0" tIns="0" rIns="0" bIns="0" rtlCol="0" anchor="ctr"/>
          <a:lstStyle/>
          <a:p>
            <a:pPr algn="ctr" indent="0" marL="0">
              <a:buNone/>
            </a:pPr>
            <a:r>
              <a:rPr lang="en-US" sz="1500" b="1" dirty="0">
                <a:solidFill>
                  <a:srgbClr val="5F7F6C"/>
                </a:solidFill>
                <a:latin typeface="Calibri" pitchFamily="34" charset="0"/>
                <a:ea typeface="Calibri" pitchFamily="34" charset="-122"/>
                <a:cs typeface="Calibri" pitchFamily="34" charset="-120"/>
              </a:rPr>
              <a:t>8 constructs</a:t>
            </a:r>
            <a:endParaRPr lang="en-US" sz="1500" dirty="0"/>
          </a:p>
        </p:txBody>
      </p:sp>
      <p:sp>
        <p:nvSpPr>
          <p:cNvPr id="11" name="Text 9"/>
          <p:cNvSpPr/>
          <p:nvPr/>
        </p:nvSpPr>
        <p:spPr>
          <a:xfrm>
            <a:off x="3712464" y="2542032"/>
            <a:ext cx="2121408" cy="731520"/>
          </a:xfrm>
          <a:prstGeom prst="rect">
            <a:avLst/>
          </a:prstGeom>
          <a:noFill/>
          <a:ln/>
        </p:spPr>
        <p:txBody>
          <a:bodyPr wrap="square" lIns="0" tIns="0" rIns="0" bIns="0" rtlCol="0" anchor="t"/>
          <a:lstStyle/>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mean of items,</a:t>
            </a:r>
            <a:endParaRPr lang="en-US" sz="1150" dirty="0"/>
          </a:p>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identical to training</a:t>
            </a:r>
            <a:endParaRPr lang="en-US" sz="1150" dirty="0"/>
          </a:p>
        </p:txBody>
      </p:sp>
      <p:sp>
        <p:nvSpPr>
          <p:cNvPr id="12" name="Shape 10"/>
          <p:cNvSpPr/>
          <p:nvPr/>
        </p:nvSpPr>
        <p:spPr>
          <a:xfrm>
            <a:off x="6080760" y="2551176"/>
            <a:ext cx="292608" cy="256032"/>
          </a:xfrm>
          <a:prstGeom prst="rightArrow">
            <a:avLst/>
          </a:prstGeom>
          <a:solidFill>
            <a:srgbClr val="A7BEAE"/>
          </a:solidFill>
          <a:ln w="12700">
            <a:solidFill>
              <a:srgbClr val="A7BEAE"/>
            </a:solidFill>
            <a:prstDash val="solid"/>
          </a:ln>
        </p:spPr>
      </p:sp>
      <p:sp>
        <p:nvSpPr>
          <p:cNvPr id="13" name="Shape 11"/>
          <p:cNvSpPr/>
          <p:nvPr/>
        </p:nvSpPr>
        <p:spPr>
          <a:xfrm>
            <a:off x="6419088" y="1965960"/>
            <a:ext cx="2487168" cy="1417320"/>
          </a:xfrm>
          <a:prstGeom prst="roundRect">
            <a:avLst>
              <a:gd name="adj" fmla="val 3871"/>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4" name="Text 12"/>
          <p:cNvSpPr/>
          <p:nvPr/>
        </p:nvSpPr>
        <p:spPr>
          <a:xfrm>
            <a:off x="6601968" y="2139696"/>
            <a:ext cx="2121408" cy="365760"/>
          </a:xfrm>
          <a:prstGeom prst="rect">
            <a:avLst/>
          </a:prstGeom>
          <a:noFill/>
          <a:ln/>
        </p:spPr>
        <p:txBody>
          <a:bodyPr wrap="square" lIns="0" tIns="0" rIns="0" bIns="0" rtlCol="0" anchor="ctr"/>
          <a:lstStyle/>
          <a:p>
            <a:pPr algn="ctr" indent="0" marL="0">
              <a:buNone/>
            </a:pPr>
            <a:r>
              <a:rPr lang="en-US" sz="1500" b="1" dirty="0">
                <a:solidFill>
                  <a:srgbClr val="2E241E"/>
                </a:solidFill>
                <a:latin typeface="Calibri" pitchFamily="34" charset="0"/>
                <a:ea typeface="Calibri" pitchFamily="34" charset="-122"/>
                <a:cs typeface="Calibri" pitchFamily="34" charset="-120"/>
              </a:rPr>
              <a:t>ML service</a:t>
            </a:r>
            <a:endParaRPr lang="en-US" sz="1500" dirty="0"/>
          </a:p>
        </p:txBody>
      </p:sp>
      <p:sp>
        <p:nvSpPr>
          <p:cNvPr id="15" name="Text 13"/>
          <p:cNvSpPr/>
          <p:nvPr/>
        </p:nvSpPr>
        <p:spPr>
          <a:xfrm>
            <a:off x="6601968" y="2542032"/>
            <a:ext cx="2121408" cy="731520"/>
          </a:xfrm>
          <a:prstGeom prst="rect">
            <a:avLst/>
          </a:prstGeom>
          <a:noFill/>
          <a:ln/>
        </p:spPr>
        <p:txBody>
          <a:bodyPr wrap="square" lIns="0" tIns="0" rIns="0" bIns="0" rtlCol="0" anchor="t"/>
          <a:lstStyle/>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FastAPI on Cloud Run,</a:t>
            </a:r>
            <a:endParaRPr lang="en-US" sz="1150" dirty="0"/>
          </a:p>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scales to zero</a:t>
            </a:r>
            <a:endParaRPr lang="en-US" sz="1150" dirty="0"/>
          </a:p>
        </p:txBody>
      </p:sp>
      <p:sp>
        <p:nvSpPr>
          <p:cNvPr id="16" name="Shape 14"/>
          <p:cNvSpPr/>
          <p:nvPr/>
        </p:nvSpPr>
        <p:spPr>
          <a:xfrm>
            <a:off x="8970264" y="2551176"/>
            <a:ext cx="292608" cy="256032"/>
          </a:xfrm>
          <a:prstGeom prst="rightArrow">
            <a:avLst/>
          </a:prstGeom>
          <a:solidFill>
            <a:srgbClr val="A7BEAE"/>
          </a:solidFill>
          <a:ln w="12700">
            <a:solidFill>
              <a:srgbClr val="A7BEAE"/>
            </a:solidFill>
            <a:prstDash val="solid"/>
          </a:ln>
        </p:spPr>
      </p:sp>
      <p:sp>
        <p:nvSpPr>
          <p:cNvPr id="17" name="Shape 15"/>
          <p:cNvSpPr/>
          <p:nvPr/>
        </p:nvSpPr>
        <p:spPr>
          <a:xfrm>
            <a:off x="9308592" y="1965960"/>
            <a:ext cx="2487168" cy="1417320"/>
          </a:xfrm>
          <a:prstGeom prst="roundRect">
            <a:avLst>
              <a:gd name="adj" fmla="val 3871"/>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8" name="Text 16"/>
          <p:cNvSpPr/>
          <p:nvPr/>
        </p:nvSpPr>
        <p:spPr>
          <a:xfrm>
            <a:off x="9491472" y="2139696"/>
            <a:ext cx="2121408" cy="365760"/>
          </a:xfrm>
          <a:prstGeom prst="rect">
            <a:avLst/>
          </a:prstGeom>
          <a:noFill/>
          <a:ln/>
        </p:spPr>
        <p:txBody>
          <a:bodyPr wrap="square" lIns="0" tIns="0" rIns="0" bIns="0" rtlCol="0" anchor="ctr"/>
          <a:lstStyle/>
          <a:p>
            <a:pPr algn="ctr" indent="0" marL="0">
              <a:buNone/>
            </a:pPr>
            <a:r>
              <a:rPr lang="en-US" sz="1500" b="1" dirty="0">
                <a:solidFill>
                  <a:srgbClr val="B85042"/>
                </a:solidFill>
                <a:latin typeface="Calibri" pitchFamily="34" charset="0"/>
                <a:ea typeface="Calibri" pitchFamily="34" charset="-122"/>
                <a:cs typeface="Calibri" pitchFamily="34" charset="-120"/>
              </a:rPr>
              <a:t>Risk + SHAP</a:t>
            </a:r>
            <a:endParaRPr lang="en-US" sz="1500" dirty="0"/>
          </a:p>
        </p:txBody>
      </p:sp>
      <p:sp>
        <p:nvSpPr>
          <p:cNvPr id="19" name="Text 17"/>
          <p:cNvSpPr/>
          <p:nvPr/>
        </p:nvSpPr>
        <p:spPr>
          <a:xfrm>
            <a:off x="9491472" y="2542032"/>
            <a:ext cx="2121408" cy="731520"/>
          </a:xfrm>
          <a:prstGeom prst="rect">
            <a:avLst/>
          </a:prstGeom>
          <a:noFill/>
          <a:ln/>
        </p:spPr>
        <p:txBody>
          <a:bodyPr wrap="square" lIns="0" tIns="0" rIns="0" bIns="0" rtlCol="0" anchor="t"/>
          <a:lstStyle/>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probability, threshold,</a:t>
            </a:r>
            <a:endParaRPr lang="en-US" sz="1150" dirty="0"/>
          </a:p>
          <a:p>
            <a:pPr algn="ctr" indent="0" marL="0">
              <a:lnSpc>
                <a:spcPct val="105000"/>
              </a:lnSpc>
              <a:buNone/>
            </a:pPr>
            <a:r>
              <a:rPr lang="en-US" sz="1150" dirty="0">
                <a:solidFill>
                  <a:srgbClr val="7A7167"/>
                </a:solidFill>
                <a:latin typeface="Calibri" pitchFamily="34" charset="0"/>
                <a:ea typeface="Calibri" pitchFamily="34" charset="-122"/>
                <a:cs typeface="Calibri" pitchFamily="34" charset="-120"/>
              </a:rPr>
              <a:t>per-request factors</a:t>
            </a:r>
            <a:endParaRPr lang="en-US" sz="1150" dirty="0"/>
          </a:p>
        </p:txBody>
      </p:sp>
      <p:sp>
        <p:nvSpPr>
          <p:cNvPr id="20" name="Shape 18"/>
          <p:cNvSpPr/>
          <p:nvPr/>
        </p:nvSpPr>
        <p:spPr>
          <a:xfrm>
            <a:off x="640080" y="3794760"/>
            <a:ext cx="5532120" cy="2011680"/>
          </a:xfrm>
          <a:prstGeom prst="roundRect">
            <a:avLst>
              <a:gd name="adj" fmla="val 2727"/>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21" name="Text 19"/>
          <p:cNvSpPr/>
          <p:nvPr/>
        </p:nvSpPr>
        <p:spPr>
          <a:xfrm>
            <a:off x="932688" y="3977640"/>
            <a:ext cx="4937760" cy="329184"/>
          </a:xfrm>
          <a:prstGeom prst="rect">
            <a:avLst/>
          </a:prstGeom>
          <a:noFill/>
          <a:ln/>
        </p:spPr>
        <p:txBody>
          <a:bodyPr wrap="square" lIns="0" tIns="0" rIns="0" bIns="0" rtlCol="0" anchor="ctr"/>
          <a:lstStyle/>
          <a:p>
            <a:pPr indent="0" marL="0">
              <a:buNone/>
            </a:pPr>
            <a:r>
              <a:rPr lang="en-US" sz="1500" b="1" dirty="0">
                <a:solidFill>
                  <a:srgbClr val="2E241E"/>
                </a:solidFill>
                <a:latin typeface="Calibri" pitchFamily="34" charset="0"/>
                <a:ea typeface="Calibri" pitchFamily="34" charset="-122"/>
                <a:cs typeface="Calibri" pitchFamily="34" charset="-120"/>
              </a:rPr>
              <a:t>Deployed, not prototyped</a:t>
            </a:r>
            <a:endParaRPr lang="en-US" sz="1500" dirty="0"/>
          </a:p>
        </p:txBody>
      </p:sp>
      <p:sp>
        <p:nvSpPr>
          <p:cNvPr id="22" name="Text 20"/>
          <p:cNvSpPr/>
          <p:nvPr/>
        </p:nvSpPr>
        <p:spPr>
          <a:xfrm>
            <a:off x="932688" y="4389120"/>
            <a:ext cx="4937760" cy="128016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1200" dirty="0">
                <a:solidFill>
                  <a:srgbClr val="3A322C"/>
                </a:solidFill>
                <a:latin typeface="Calibri" pitchFamily="34" charset="0"/>
                <a:ea typeface="Calibri" pitchFamily="34" charset="-122"/>
                <a:cs typeface="Calibri" pitchFamily="34" charset="-120"/>
              </a:rPr>
              <a:t>Inference is IAM-locked and authenticated, never public</a:t>
            </a:r>
            <a:endParaRPr lang="en-US" sz="1200" dirty="0"/>
          </a:p>
          <a:p>
            <a:pPr marL="342900" indent="-342900">
              <a:lnSpc>
                <a:spcPct val="110000"/>
              </a:lnSpc>
              <a:spcAft>
                <a:spcPts val="800"/>
              </a:spcAft>
              <a:buSzPct val="100000"/>
              <a:buChar char="•"/>
            </a:pPr>
            <a:r>
              <a:rPr lang="en-US" sz="1200" dirty="0">
                <a:solidFill>
                  <a:srgbClr val="3A322C"/>
                </a:solidFill>
                <a:latin typeface="Calibri" pitchFamily="34" charset="0"/>
                <a:ea typeface="Calibri" pitchFamily="34" charset="-122"/>
                <a:cs typeface="Calibri" pitchFamily="34" charset="-120"/>
              </a:rPr>
              <a:t>Shipped to the product over an HTTP API boundary, not a merge</a:t>
            </a:r>
            <a:endParaRPr lang="en-US" sz="1200" dirty="0"/>
          </a:p>
          <a:p>
            <a:pPr marL="342900" indent="-342900">
              <a:lnSpc>
                <a:spcPct val="110000"/>
              </a:lnSpc>
              <a:spcAft>
                <a:spcPts val="800"/>
              </a:spcAft>
              <a:buSzPct val="100000"/>
              <a:buChar char="•"/>
            </a:pPr>
            <a:r>
              <a:rPr lang="en-US" sz="1200" dirty="0">
                <a:solidFill>
                  <a:srgbClr val="3A322C"/>
                </a:solidFill>
                <a:latin typeface="Calibri" pitchFamily="34" charset="0"/>
                <a:ea typeface="Calibri" pitchFamily="34" charset="-122"/>
                <a:cs typeface="Calibri" pitchFamily="34" charset="-120"/>
              </a:rPr>
              <a:t>Employees never see their own risk score, by design</a:t>
            </a:r>
            <a:endParaRPr lang="en-US" sz="1200" dirty="0"/>
          </a:p>
        </p:txBody>
      </p:sp>
      <p:sp>
        <p:nvSpPr>
          <p:cNvPr id="23" name="Shape 21"/>
          <p:cNvSpPr/>
          <p:nvPr/>
        </p:nvSpPr>
        <p:spPr>
          <a:xfrm>
            <a:off x="6656832" y="3794760"/>
            <a:ext cx="4892040" cy="2011680"/>
          </a:xfrm>
          <a:prstGeom prst="roundRect">
            <a:avLst>
              <a:gd name="adj" fmla="val 2727"/>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24" name="Text 22"/>
          <p:cNvSpPr/>
          <p:nvPr/>
        </p:nvSpPr>
        <p:spPr>
          <a:xfrm>
            <a:off x="6949440" y="4023360"/>
            <a:ext cx="1828800" cy="658368"/>
          </a:xfrm>
          <a:prstGeom prst="rect">
            <a:avLst/>
          </a:prstGeom>
          <a:noFill/>
          <a:ln/>
        </p:spPr>
        <p:txBody>
          <a:bodyPr wrap="square" lIns="0" tIns="0" rIns="0" bIns="0" rtlCol="0" anchor="ctr"/>
          <a:lstStyle/>
          <a:p>
            <a:pPr indent="0" marL="0">
              <a:buNone/>
            </a:pPr>
            <a:r>
              <a:rPr lang="en-US" sz="4000" b="1" dirty="0">
                <a:solidFill>
                  <a:srgbClr val="A7BEAE"/>
                </a:solidFill>
                <a:latin typeface="Cambria" pitchFamily="34" charset="0"/>
                <a:ea typeface="Cambria" pitchFamily="34" charset="-122"/>
                <a:cs typeface="Cambria" pitchFamily="34" charset="-120"/>
              </a:rPr>
              <a:t>150</a:t>
            </a:r>
            <a:endParaRPr lang="en-US" sz="4000" dirty="0"/>
          </a:p>
        </p:txBody>
      </p:sp>
      <p:sp>
        <p:nvSpPr>
          <p:cNvPr id="25" name="Text 23"/>
          <p:cNvSpPr/>
          <p:nvPr/>
        </p:nvSpPr>
        <p:spPr>
          <a:xfrm>
            <a:off x="6949440" y="4736592"/>
            <a:ext cx="4297680" cy="822960"/>
          </a:xfrm>
          <a:prstGeom prst="rect">
            <a:avLst/>
          </a:prstGeom>
          <a:noFill/>
          <a:ln/>
        </p:spPr>
        <p:txBody>
          <a:bodyPr wrap="square" lIns="0" tIns="0" rIns="0" bIns="0" rtlCol="0" anchor="t"/>
          <a:lstStyle/>
          <a:p>
            <a:pPr indent="0" marL="0">
              <a:lnSpc>
                <a:spcPct val="110000"/>
              </a:lnSpc>
              <a:buNone/>
            </a:pPr>
            <a:r>
              <a:rPr lang="en-US" sz="1300" dirty="0">
                <a:solidFill>
                  <a:srgbClr val="E0E1CE"/>
                </a:solidFill>
                <a:latin typeface="Calibri" pitchFamily="34" charset="0"/>
                <a:ea typeface="Calibri" pitchFamily="34" charset="-122"/>
                <a:cs typeface="Calibri" pitchFamily="34" charset="-120"/>
              </a:rPr>
              <a:t>billable instance-seconds consumed by the inference service across four months.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8</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The system in use</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Attrition risk on the employee detail page</a:t>
            </a:r>
            <a:endParaRPr lang="en-US" sz="1400" dirty="0"/>
          </a:p>
        </p:txBody>
      </p:sp>
      <p:pic>
        <p:nvPicPr>
          <p:cNvPr id="5" name="Image 0" descr="G:\Other computers\My Computer\sync\MIS\Final Year Individual Project\created_docs\figures\attrition_risk_card_cropped.png">    </p:cNvPr>
          <p:cNvPicPr>
            <a:picLocks noChangeAspect="1"/>
          </p:cNvPicPr>
          <p:nvPr/>
        </p:nvPicPr>
        <p:blipFill>
          <a:blip r:embed="rId1"/>
          <a:stretch>
            <a:fillRect/>
          </a:stretch>
        </p:blipFill>
        <p:spPr>
          <a:xfrm>
            <a:off x="640080" y="1645920"/>
            <a:ext cx="5212080" cy="4059936"/>
          </a:xfrm>
          <a:prstGeom prst="rect">
            <a:avLst/>
          </a:prstGeom>
        </p:spPr>
      </p:pic>
      <p:sp>
        <p:nvSpPr>
          <p:cNvPr id="6" name="Shape 3"/>
          <p:cNvSpPr/>
          <p:nvPr/>
        </p:nvSpPr>
        <p:spPr>
          <a:xfrm>
            <a:off x="5943600" y="1773936"/>
            <a:ext cx="402336" cy="402336"/>
          </a:xfrm>
          <a:prstGeom prst="ellipse">
            <a:avLst/>
          </a:prstGeom>
          <a:solidFill>
            <a:srgbClr val="5F7F6C"/>
          </a:solidFill>
          <a:ln w="12700">
            <a:solidFill>
              <a:srgbClr val="5F7F6C"/>
            </a:solidFill>
            <a:prstDash val="solid"/>
          </a:ln>
        </p:spPr>
      </p:sp>
      <p:sp>
        <p:nvSpPr>
          <p:cNvPr id="7" name="Text 4"/>
          <p:cNvSpPr/>
          <p:nvPr/>
        </p:nvSpPr>
        <p:spPr>
          <a:xfrm>
            <a:off x="5943600" y="17739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6510528" y="1737360"/>
            <a:ext cx="5029200" cy="36576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Probability against a disclosed threshold</a:t>
            </a:r>
            <a:endParaRPr lang="en-US" sz="1450" dirty="0"/>
          </a:p>
        </p:txBody>
      </p:sp>
      <p:sp>
        <p:nvSpPr>
          <p:cNvPr id="9" name="Text 6"/>
          <p:cNvSpPr/>
          <p:nvPr/>
        </p:nvSpPr>
        <p:spPr>
          <a:xfrm>
            <a:off x="6510528" y="2121408"/>
            <a:ext cx="5029200" cy="868680"/>
          </a:xfrm>
          <a:prstGeom prst="rect">
            <a:avLst/>
          </a:prstGeom>
          <a:noFill/>
          <a:ln/>
        </p:spPr>
        <p:txBody>
          <a:bodyPr wrap="square" lIns="0" tIns="0" rIns="0" bIns="0" rtlCol="0" anchor="t"/>
          <a:lstStyle/>
          <a:p>
            <a:pPr indent="0" marL="0">
              <a:lnSpc>
                <a:spcPct val="108000"/>
              </a:lnSpc>
              <a:buNone/>
            </a:pPr>
            <a:r>
              <a:rPr lang="en-US" sz="1250" dirty="0">
                <a:solidFill>
                  <a:srgbClr val="7A7167"/>
                </a:solidFill>
                <a:latin typeface="Calibri" pitchFamily="34" charset="0"/>
                <a:ea typeface="Calibri" pitchFamily="34" charset="-122"/>
                <a:cs typeface="Calibri" pitchFamily="34" charset="-120"/>
              </a:rPr>
              <a:t>The operating point is shown, not hidden — a manager can see what the model was tuned to do.</a:t>
            </a:r>
            <a:endParaRPr lang="en-US" sz="1250" dirty="0"/>
          </a:p>
        </p:txBody>
      </p:sp>
      <p:sp>
        <p:nvSpPr>
          <p:cNvPr id="10" name="Shape 7"/>
          <p:cNvSpPr/>
          <p:nvPr/>
        </p:nvSpPr>
        <p:spPr>
          <a:xfrm>
            <a:off x="5943600" y="3191256"/>
            <a:ext cx="402336" cy="402336"/>
          </a:xfrm>
          <a:prstGeom prst="ellipse">
            <a:avLst/>
          </a:prstGeom>
          <a:solidFill>
            <a:srgbClr val="5F7F6C"/>
          </a:solidFill>
          <a:ln w="12700">
            <a:solidFill>
              <a:srgbClr val="5F7F6C"/>
            </a:solidFill>
            <a:prstDash val="solid"/>
          </a:ln>
        </p:spPr>
      </p:sp>
      <p:sp>
        <p:nvSpPr>
          <p:cNvPr id="11" name="Text 8"/>
          <p:cNvSpPr/>
          <p:nvPr/>
        </p:nvSpPr>
        <p:spPr>
          <a:xfrm>
            <a:off x="5943600" y="31912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6510528" y="3154680"/>
            <a:ext cx="5029200" cy="36576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Per-request SHAP contributions</a:t>
            </a:r>
            <a:endParaRPr lang="en-US" sz="1450" dirty="0"/>
          </a:p>
        </p:txBody>
      </p:sp>
      <p:sp>
        <p:nvSpPr>
          <p:cNvPr id="13" name="Text 10"/>
          <p:cNvSpPr/>
          <p:nvPr/>
        </p:nvSpPr>
        <p:spPr>
          <a:xfrm>
            <a:off x="6510528" y="3538728"/>
            <a:ext cx="5029200" cy="868680"/>
          </a:xfrm>
          <a:prstGeom prst="rect">
            <a:avLst/>
          </a:prstGeom>
          <a:noFill/>
          <a:ln/>
        </p:spPr>
        <p:txBody>
          <a:bodyPr wrap="square" lIns="0" tIns="0" rIns="0" bIns="0" rtlCol="0" anchor="t"/>
          <a:lstStyle/>
          <a:p>
            <a:pPr indent="0" marL="0">
              <a:lnSpc>
                <a:spcPct val="108000"/>
              </a:lnSpc>
              <a:buNone/>
            </a:pPr>
            <a:r>
              <a:rPr lang="en-US" sz="1250" dirty="0">
                <a:solidFill>
                  <a:srgbClr val="7A7167"/>
                </a:solidFill>
                <a:latin typeface="Calibri" pitchFamily="34" charset="0"/>
                <a:ea typeface="Calibri" pitchFamily="34" charset="-122"/>
                <a:cs typeface="Calibri" pitchFamily="34" charset="-120"/>
              </a:rPr>
              <a:t>Explanations are computed for this employee, not a global importance chart reused for everyone.</a:t>
            </a:r>
            <a:endParaRPr lang="en-US" sz="1250" dirty="0"/>
          </a:p>
        </p:txBody>
      </p:sp>
      <p:sp>
        <p:nvSpPr>
          <p:cNvPr id="14" name="Shape 11"/>
          <p:cNvSpPr/>
          <p:nvPr/>
        </p:nvSpPr>
        <p:spPr>
          <a:xfrm>
            <a:off x="5943600" y="4608576"/>
            <a:ext cx="402336" cy="402336"/>
          </a:xfrm>
          <a:prstGeom prst="ellipse">
            <a:avLst/>
          </a:prstGeom>
          <a:solidFill>
            <a:srgbClr val="5F7F6C"/>
          </a:solidFill>
          <a:ln w="12700">
            <a:solidFill>
              <a:srgbClr val="5F7F6C"/>
            </a:solidFill>
            <a:prstDash val="solid"/>
          </a:ln>
        </p:spPr>
      </p:sp>
      <p:sp>
        <p:nvSpPr>
          <p:cNvPr id="15" name="Text 12"/>
          <p:cNvSpPr/>
          <p:nvPr/>
        </p:nvSpPr>
        <p:spPr>
          <a:xfrm>
            <a:off x="5943600" y="460857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6510528" y="4572000"/>
            <a:ext cx="5029200" cy="365760"/>
          </a:xfrm>
          <a:prstGeom prst="rect">
            <a:avLst/>
          </a:prstGeom>
          <a:noFill/>
          <a:ln/>
        </p:spPr>
        <p:txBody>
          <a:bodyPr wrap="square" lIns="0" tIns="0" rIns="0" bIns="0" rtlCol="0" anchor="ctr"/>
          <a:lstStyle/>
          <a:p>
            <a:pPr indent="0" marL="0">
              <a:buNone/>
            </a:pPr>
            <a:r>
              <a:rPr lang="en-US" sz="1450" b="1" dirty="0">
                <a:solidFill>
                  <a:srgbClr val="2E241E"/>
                </a:solidFill>
                <a:latin typeface="Calibri" pitchFamily="34" charset="0"/>
                <a:ea typeface="Calibri" pitchFamily="34" charset="-122"/>
                <a:cs typeface="Calibri" pitchFamily="34" charset="-120"/>
              </a:rPr>
              <a:t>The caveat sits at the point of use</a:t>
            </a:r>
            <a:endParaRPr lang="en-US" sz="1450" dirty="0"/>
          </a:p>
        </p:txBody>
      </p:sp>
      <p:sp>
        <p:nvSpPr>
          <p:cNvPr id="17" name="Text 14"/>
          <p:cNvSpPr/>
          <p:nvPr/>
        </p:nvSpPr>
        <p:spPr>
          <a:xfrm>
            <a:off x="6510528" y="4956048"/>
            <a:ext cx="5029200" cy="868680"/>
          </a:xfrm>
          <a:prstGeom prst="rect">
            <a:avLst/>
          </a:prstGeom>
          <a:noFill/>
          <a:ln/>
        </p:spPr>
        <p:txBody>
          <a:bodyPr wrap="square" lIns="0" tIns="0" rIns="0" bIns="0" rtlCol="0" anchor="t"/>
          <a:lstStyle/>
          <a:p>
            <a:pPr indent="0" marL="0">
              <a:lnSpc>
                <a:spcPct val="108000"/>
              </a:lnSpc>
              <a:buNone/>
            </a:pPr>
            <a:r>
              <a:rPr lang="en-US" sz="1250" dirty="0">
                <a:solidFill>
                  <a:srgbClr val="7A7167"/>
                </a:solidFill>
                <a:latin typeface="Calibri" pitchFamily="34" charset="0"/>
                <a:ea typeface="Calibri" pitchFamily="34" charset="-122"/>
                <a:cs typeface="Calibri" pitchFamily="34" charset="-120"/>
              </a:rPr>
              <a:t>The card states that the model predicts turnover intention, where the decision is made — not in a manual.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9</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RQ1 — attrition patterns do not transfer</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Both models evaluated against the same held-out Sri Lankan sample (n = 230, 33 positives)</a:t>
            </a:r>
            <a:endParaRPr lang="en-US" sz="1400" dirty="0"/>
          </a:p>
        </p:txBody>
      </p:sp>
      <p:sp>
        <p:nvSpPr>
          <p:cNvPr id="5" name="Shape 3"/>
          <p:cNvSpPr/>
          <p:nvPr/>
        </p:nvSpPr>
        <p:spPr>
          <a:xfrm>
            <a:off x="640080" y="1828800"/>
            <a:ext cx="2651760" cy="1691640"/>
          </a:xfrm>
          <a:prstGeom prst="roundRect">
            <a:avLst>
              <a:gd name="adj" fmla="val 324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Text 4"/>
          <p:cNvSpPr/>
          <p:nvPr/>
        </p:nvSpPr>
        <p:spPr>
          <a:xfrm>
            <a:off x="914400" y="1920240"/>
            <a:ext cx="2103120" cy="777240"/>
          </a:xfrm>
          <a:prstGeom prst="rect">
            <a:avLst/>
          </a:prstGeom>
          <a:noFill/>
          <a:ln/>
        </p:spPr>
        <p:txBody>
          <a:bodyPr wrap="square" lIns="0" tIns="0" rIns="0" bIns="0" rtlCol="0" anchor="b"/>
          <a:lstStyle/>
          <a:p>
            <a:pPr indent="0" marL="0">
              <a:buNone/>
            </a:pPr>
            <a:r>
              <a:rPr lang="en-US" sz="4000" b="1" dirty="0">
                <a:solidFill>
                  <a:srgbClr val="B85042"/>
                </a:solidFill>
                <a:latin typeface="Cambria" pitchFamily="34" charset="0"/>
                <a:ea typeface="Cambria" pitchFamily="34" charset="-122"/>
                <a:cs typeface="Cambria" pitchFamily="34" charset="-120"/>
              </a:rPr>
              <a:t>0.641</a:t>
            </a:r>
            <a:endParaRPr lang="en-US" sz="4000" dirty="0"/>
          </a:p>
        </p:txBody>
      </p:sp>
      <p:sp>
        <p:nvSpPr>
          <p:cNvPr id="7" name="Text 5"/>
          <p:cNvSpPr/>
          <p:nvPr/>
        </p:nvSpPr>
        <p:spPr>
          <a:xfrm>
            <a:off x="914400" y="2724912"/>
            <a:ext cx="2103120" cy="566928"/>
          </a:xfrm>
          <a:prstGeom prst="rect">
            <a:avLst/>
          </a:prstGeom>
          <a:noFill/>
          <a:ln/>
        </p:spPr>
        <p:txBody>
          <a:bodyPr wrap="square" lIns="0" tIns="0" rIns="0" bIns="0" rtlCol="0" anchor="t"/>
          <a:lstStyle/>
          <a:p>
            <a:pPr indent="0" marL="0">
              <a:buNone/>
            </a:pPr>
            <a:r>
              <a:rPr lang="en-US" sz="1200" dirty="0">
                <a:solidFill>
                  <a:srgbClr val="7A7167"/>
                </a:solidFill>
                <a:latin typeface="Calibri" pitchFamily="34" charset="0"/>
                <a:ea typeface="Calibri" pitchFamily="34" charset="-122"/>
                <a:cs typeface="Calibri" pitchFamily="34" charset="-120"/>
              </a:rPr>
              <a:t>Transfer model, ROC-AUC</a:t>
            </a:r>
            <a:endParaRPr lang="en-US" sz="1200" dirty="0"/>
          </a:p>
          <a:p>
            <a:pPr indent="0" marL="0">
              <a:buNone/>
            </a:pPr>
            <a:r>
              <a:rPr lang="en-US" sz="1200" dirty="0">
                <a:solidFill>
                  <a:srgbClr val="7A7167"/>
                </a:solidFill>
                <a:latin typeface="Calibri" pitchFamily="34" charset="0"/>
                <a:ea typeface="Calibri" pitchFamily="34" charset="-122"/>
                <a:cs typeface="Calibri" pitchFamily="34" charset="-120"/>
              </a:rPr>
              <a:t>4 shared features</a:t>
            </a:r>
            <a:endParaRPr lang="en-US" sz="1200" dirty="0"/>
          </a:p>
        </p:txBody>
      </p:sp>
      <p:sp>
        <p:nvSpPr>
          <p:cNvPr id="8" name="Shape 6"/>
          <p:cNvSpPr/>
          <p:nvPr/>
        </p:nvSpPr>
        <p:spPr>
          <a:xfrm>
            <a:off x="640080" y="3703320"/>
            <a:ext cx="2651760" cy="1691640"/>
          </a:xfrm>
          <a:prstGeom prst="roundRect">
            <a:avLst>
              <a:gd name="adj" fmla="val 3243"/>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9" name="Text 7"/>
          <p:cNvSpPr/>
          <p:nvPr/>
        </p:nvSpPr>
        <p:spPr>
          <a:xfrm>
            <a:off x="914400" y="3794760"/>
            <a:ext cx="2103120" cy="777240"/>
          </a:xfrm>
          <a:prstGeom prst="rect">
            <a:avLst/>
          </a:prstGeom>
          <a:noFill/>
          <a:ln/>
        </p:spPr>
        <p:txBody>
          <a:bodyPr wrap="square" lIns="0" tIns="0" rIns="0" bIns="0" rtlCol="0" anchor="b"/>
          <a:lstStyle/>
          <a:p>
            <a:pPr indent="0" marL="0">
              <a:buNone/>
            </a:pPr>
            <a:r>
              <a:rPr lang="en-US" sz="4000" b="1" dirty="0">
                <a:solidFill>
                  <a:srgbClr val="5F7F6C"/>
                </a:solidFill>
                <a:latin typeface="Cambria" pitchFamily="34" charset="0"/>
                <a:ea typeface="Cambria" pitchFamily="34" charset="-122"/>
                <a:cs typeface="Cambria" pitchFamily="34" charset="-120"/>
              </a:rPr>
              <a:t>0.937</a:t>
            </a:r>
            <a:endParaRPr lang="en-US" sz="4000" dirty="0"/>
          </a:p>
        </p:txBody>
      </p:sp>
      <p:sp>
        <p:nvSpPr>
          <p:cNvPr id="10" name="Text 8"/>
          <p:cNvSpPr/>
          <p:nvPr/>
        </p:nvSpPr>
        <p:spPr>
          <a:xfrm>
            <a:off x="914400" y="4599432"/>
            <a:ext cx="2103120" cy="566928"/>
          </a:xfrm>
          <a:prstGeom prst="rect">
            <a:avLst/>
          </a:prstGeom>
          <a:noFill/>
          <a:ln/>
        </p:spPr>
        <p:txBody>
          <a:bodyPr wrap="square" lIns="0" tIns="0" rIns="0" bIns="0" rtlCol="0" anchor="t"/>
          <a:lstStyle/>
          <a:p>
            <a:pPr indent="0" marL="0">
              <a:buNone/>
            </a:pPr>
            <a:r>
              <a:rPr lang="en-US" sz="1200" dirty="0">
                <a:solidFill>
                  <a:srgbClr val="7A7167"/>
                </a:solidFill>
                <a:latin typeface="Calibri" pitchFamily="34" charset="0"/>
                <a:ea typeface="Calibri" pitchFamily="34" charset="-122"/>
                <a:cs typeface="Calibri" pitchFamily="34" charset="-120"/>
              </a:rPr>
              <a:t>Local model, ROC-AUC</a:t>
            </a:r>
            <a:endParaRPr lang="en-US" sz="1200" dirty="0"/>
          </a:p>
          <a:p>
            <a:pPr indent="0" marL="0">
              <a:buNone/>
            </a:pPr>
            <a:r>
              <a:rPr lang="en-US" sz="1200" dirty="0">
                <a:solidFill>
                  <a:srgbClr val="7A7167"/>
                </a:solidFill>
                <a:latin typeface="Calibri" pitchFamily="34" charset="0"/>
                <a:ea typeface="Calibri" pitchFamily="34" charset="-122"/>
                <a:cs typeface="Calibri" pitchFamily="34" charset="-120"/>
              </a:rPr>
              <a:t>8 psychometric constructs</a:t>
            </a:r>
            <a:endParaRPr lang="en-US" sz="1200" dirty="0"/>
          </a:p>
        </p:txBody>
      </p:sp>
      <p:graphicFrame>
        <p:nvGraphicFramePr>
          <p:cNvPr id="11" name="Chart 0" descr=""/>
          <p:cNvGraphicFramePr/>
          <p:nvPr/>
        </p:nvGraphicFramePr>
        <p:xfrm>
          <a:off x="3657600" y="1783080"/>
          <a:ext cx="7891272" cy="310896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3657600" y="5029200"/>
            <a:ext cx="7891272" cy="1051560"/>
          </a:xfrm>
          <a:prstGeom prst="roundRect">
            <a:avLst>
              <a:gd name="adj" fmla="val 5217"/>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13" name="Text 10"/>
          <p:cNvSpPr/>
          <p:nvPr/>
        </p:nvSpPr>
        <p:spPr>
          <a:xfrm>
            <a:off x="3977640" y="5138928"/>
            <a:ext cx="7269480" cy="841248"/>
          </a:xfrm>
          <a:prstGeom prst="rect">
            <a:avLst/>
          </a:prstGeom>
          <a:noFill/>
          <a:ln/>
        </p:spPr>
        <p:txBody>
          <a:bodyPr wrap="square" lIns="0" tIns="0" rIns="0" bIns="0" rtlCol="0" anchor="ctr"/>
          <a:lstStyle/>
          <a:p>
            <a:pPr indent="0" marL="0">
              <a:lnSpc>
                <a:spcPct val="110000"/>
              </a:lnSpc>
              <a:buNone/>
            </a:pPr>
            <a:r>
              <a:rPr lang="en-US" sz="1350" dirty="0">
                <a:solidFill>
                  <a:srgbClr val="E0E1CE"/>
                </a:solidFill>
                <a:latin typeface="Calibri" pitchFamily="34" charset="0"/>
                <a:ea typeface="Calibri" pitchFamily="34" charset="-122"/>
                <a:cs typeface="Calibri" pitchFamily="34" charset="-120"/>
              </a:rPr>
              <a:t>A model carrying Saudi and Russian labour-market knowledge performs close to chance on Sri Lankan data, while one fitted to Sri Lankan constructs performs strongly.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10</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The transfer result is weaker than 0.64 suggests</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Decomposing what the four shared features actually contribute</a:t>
            </a:r>
            <a:endParaRPr lang="en-US" sz="1400" dirty="0"/>
          </a:p>
        </p:txBody>
      </p:sp>
      <p:graphicFrame>
        <p:nvGraphicFramePr>
          <p:cNvPr id="5" name="Chart 0" descr=""/>
          <p:cNvGraphicFramePr/>
          <p:nvPr/>
        </p:nvGraphicFramePr>
        <p:xfrm>
          <a:off x="640080" y="1828800"/>
          <a:ext cx="6675120" cy="26517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43800" y="1828800"/>
            <a:ext cx="4005072" cy="2651760"/>
          </a:xfrm>
          <a:prstGeom prst="roundRect">
            <a:avLst>
              <a:gd name="adj" fmla="val 2069"/>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7" name="Text 4"/>
          <p:cNvSpPr/>
          <p:nvPr/>
        </p:nvSpPr>
        <p:spPr>
          <a:xfrm>
            <a:off x="7836408" y="2011680"/>
            <a:ext cx="3419856" cy="640080"/>
          </a:xfrm>
          <a:prstGeom prst="rect">
            <a:avLst/>
          </a:prstGeom>
          <a:noFill/>
          <a:ln/>
        </p:spPr>
        <p:txBody>
          <a:bodyPr wrap="square" lIns="0" tIns="0" rIns="0" bIns="0" rtlCol="0" anchor="ctr"/>
          <a:lstStyle/>
          <a:p>
            <a:pPr indent="0" marL="0">
              <a:buNone/>
            </a:pPr>
            <a:r>
              <a:rPr lang="en-US" sz="3600" b="1" dirty="0">
                <a:solidFill>
                  <a:srgbClr val="B85042"/>
                </a:solidFill>
                <a:latin typeface="Cambria" pitchFamily="34" charset="0"/>
                <a:ea typeface="Cambria" pitchFamily="34" charset="-122"/>
                <a:cs typeface="Cambria" pitchFamily="34" charset="-120"/>
              </a:rPr>
              <a:t>0.457</a:t>
            </a:r>
            <a:endParaRPr lang="en-US" sz="3600" dirty="0"/>
          </a:p>
        </p:txBody>
      </p:sp>
      <p:sp>
        <p:nvSpPr>
          <p:cNvPr id="8" name="Text 5"/>
          <p:cNvSpPr/>
          <p:nvPr/>
        </p:nvSpPr>
        <p:spPr>
          <a:xfrm>
            <a:off x="7836408" y="2697480"/>
            <a:ext cx="3419856" cy="1600200"/>
          </a:xfrm>
          <a:prstGeom prst="rect">
            <a:avLst/>
          </a:prstGeom>
          <a:noFill/>
          <a:ln/>
        </p:spPr>
        <p:txBody>
          <a:bodyPr wrap="square" lIns="0" tIns="0" rIns="0" bIns="0" rtlCol="0" anchor="t"/>
          <a:lstStyle/>
          <a:p>
            <a:pPr indent="0" marL="0">
              <a:lnSpc>
                <a:spcPct val="112000"/>
              </a:lnSpc>
              <a:buNone/>
            </a:pPr>
            <a:r>
              <a:rPr lang="en-US" sz="1300" dirty="0">
                <a:solidFill>
                  <a:srgbClr val="3A322C"/>
                </a:solidFill>
                <a:latin typeface="Calibri" pitchFamily="34" charset="0"/>
                <a:ea typeface="Calibri" pitchFamily="34" charset="-122"/>
                <a:cs typeface="Calibri" pitchFamily="34" charset="-120"/>
              </a:rPr>
              <a:t>Age and gender together score below chance. They carry no transferable signal at all.</a:t>
            </a:r>
            <a:endParaRPr lang="en-US" sz="1300" dirty="0"/>
          </a:p>
        </p:txBody>
      </p:sp>
      <p:sp>
        <p:nvSpPr>
          <p:cNvPr id="9" name="Shape 6"/>
          <p:cNvSpPr/>
          <p:nvPr/>
        </p:nvSpPr>
        <p:spPr>
          <a:xfrm>
            <a:off x="640080" y="4663440"/>
            <a:ext cx="10911535" cy="1371600"/>
          </a:xfrm>
          <a:prstGeom prst="roundRect">
            <a:avLst>
              <a:gd name="adj" fmla="val 4000"/>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10" name="Text 7"/>
          <p:cNvSpPr/>
          <p:nvPr/>
        </p:nvSpPr>
        <p:spPr>
          <a:xfrm>
            <a:off x="1051560" y="4791456"/>
            <a:ext cx="10088575" cy="502920"/>
          </a:xfrm>
          <a:prstGeom prst="rect">
            <a:avLst/>
          </a:prstGeom>
          <a:noFill/>
          <a:ln/>
        </p:spPr>
        <p:txBody>
          <a:bodyPr wrap="square" lIns="0" tIns="0" rIns="0" bIns="0" rtlCol="0" anchor="ctr"/>
          <a:lstStyle/>
          <a:p>
            <a:pPr indent="0" marL="0">
              <a:lnSpc>
                <a:spcPct val="108000"/>
              </a:lnSpc>
              <a:buNone/>
            </a:pPr>
            <a:r>
              <a:rPr lang="en-US" sz="1400" dirty="0">
                <a:solidFill>
                  <a:srgbClr val="E0E1CE"/>
                </a:solidFill>
                <a:latin typeface="Calibri" pitchFamily="34" charset="0"/>
                <a:ea typeface="Calibri" pitchFamily="34" charset="-122"/>
                <a:cs typeface="Calibri" pitchFamily="34" charset="-120"/>
              </a:rPr>
              <a:t>Whatever the transfer model achieves comes entirely from satisfaction items — which, on the Sri Lankan side, are self-reported in the same instrument as the outcome.</a:t>
            </a:r>
            <a:endParaRPr lang="en-US" sz="1400" dirty="0"/>
          </a:p>
        </p:txBody>
      </p:sp>
      <p:sp>
        <p:nvSpPr>
          <p:cNvPr id="11" name="Text 8"/>
          <p:cNvSpPr/>
          <p:nvPr/>
        </p:nvSpPr>
        <p:spPr>
          <a:xfrm>
            <a:off x="1051560" y="5349240"/>
            <a:ext cx="10088575" cy="5029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It is partly re-detecting same-source correlation, not transferring knowledge. This weakens my own headline — and it is reported that way.</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11</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RQ3 — can synthetic data substitute for local data?</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Six conditions, five seeds each, on the transfer arm</a:t>
            </a:r>
            <a:endParaRPr lang="en-US" sz="1400" dirty="0"/>
          </a:p>
        </p:txBody>
      </p:sp>
      <p:graphicFrame>
        <p:nvGraphicFramePr>
          <p:cNvPr id="5" name="Chart 0" descr=""/>
          <p:cNvGraphicFramePr/>
          <p:nvPr/>
        </p:nvGraphicFramePr>
        <p:xfrm>
          <a:off x="640080" y="1874520"/>
          <a:ext cx="7178040" cy="2880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092440" y="1783080"/>
            <a:ext cx="3456432" cy="658368"/>
          </a:xfrm>
          <a:prstGeom prst="rect">
            <a:avLst/>
          </a:prstGeom>
          <a:noFill/>
          <a:ln/>
        </p:spPr>
        <p:txBody>
          <a:bodyPr wrap="square" lIns="0" tIns="0" rIns="0" bIns="0" rtlCol="0" anchor="ctr"/>
          <a:lstStyle/>
          <a:p>
            <a:pPr indent="0" marL="0">
              <a:buNone/>
            </a:pPr>
            <a:r>
              <a:rPr lang="en-US" sz="4200" b="1" dirty="0">
                <a:solidFill>
                  <a:srgbClr val="B85042"/>
                </a:solidFill>
                <a:latin typeface="Cambria" pitchFamily="34" charset="0"/>
                <a:ea typeface="Cambria" pitchFamily="34" charset="-122"/>
                <a:cs typeface="Cambria" pitchFamily="34" charset="-120"/>
              </a:rPr>
              <a:t>No.</a:t>
            </a:r>
            <a:endParaRPr lang="en-US" sz="4200" dirty="0"/>
          </a:p>
        </p:txBody>
      </p:sp>
      <p:sp>
        <p:nvSpPr>
          <p:cNvPr id="7" name="Text 4"/>
          <p:cNvSpPr/>
          <p:nvPr/>
        </p:nvSpPr>
        <p:spPr>
          <a:xfrm>
            <a:off x="8092440" y="2560320"/>
            <a:ext cx="1051560" cy="365760"/>
          </a:xfrm>
          <a:prstGeom prst="rect">
            <a:avLst/>
          </a:prstGeom>
          <a:noFill/>
          <a:ln/>
        </p:spPr>
        <p:txBody>
          <a:bodyPr wrap="square" lIns="0" tIns="0" rIns="0" bIns="0" rtlCol="0" anchor="ctr"/>
          <a:lstStyle/>
          <a:p>
            <a:pPr indent="0" marL="0">
              <a:buNone/>
            </a:pPr>
            <a:r>
              <a:rPr lang="en-US" sz="1800" b="1" dirty="0">
                <a:solidFill>
                  <a:srgbClr val="2E241E"/>
                </a:solidFill>
                <a:latin typeface="Cambria" pitchFamily="34" charset="0"/>
                <a:ea typeface="Cambria" pitchFamily="34" charset="-122"/>
                <a:cs typeface="Cambria" pitchFamily="34" charset="-120"/>
              </a:rPr>
              <a:t>0.526</a:t>
            </a:r>
            <a:endParaRPr lang="en-US" sz="1800" dirty="0"/>
          </a:p>
        </p:txBody>
      </p:sp>
      <p:sp>
        <p:nvSpPr>
          <p:cNvPr id="8" name="Text 5"/>
          <p:cNvSpPr/>
          <p:nvPr/>
        </p:nvSpPr>
        <p:spPr>
          <a:xfrm>
            <a:off x="9189720" y="2514600"/>
            <a:ext cx="2359152" cy="685800"/>
          </a:xfrm>
          <a:prstGeom prst="rect">
            <a:avLst/>
          </a:prstGeom>
          <a:noFill/>
          <a:ln/>
        </p:spPr>
        <p:txBody>
          <a:bodyPr wrap="square" lIns="0" tIns="0" rIns="0" bIns="0" rtlCol="0" anchor="ctr"/>
          <a:lstStyle/>
          <a:p>
            <a:pPr indent="0" marL="0">
              <a:lnSpc>
                <a:spcPct val="105000"/>
              </a:lnSpc>
              <a:buNone/>
            </a:pPr>
            <a:r>
              <a:rPr lang="en-US" sz="1100" dirty="0">
                <a:solidFill>
                  <a:srgbClr val="7A7167"/>
                </a:solidFill>
                <a:latin typeface="Calibri" pitchFamily="34" charset="0"/>
                <a:ea typeface="Calibri" pitchFamily="34" charset="-122"/>
                <a:cs typeface="Calibri" pitchFamily="34" charset="-120"/>
              </a:rPr>
              <a:t>Synthetic data alone — indistinguishable from chance</a:t>
            </a:r>
            <a:endParaRPr lang="en-US" sz="1100" dirty="0"/>
          </a:p>
        </p:txBody>
      </p:sp>
      <p:sp>
        <p:nvSpPr>
          <p:cNvPr id="9" name="Text 6"/>
          <p:cNvSpPr/>
          <p:nvPr/>
        </p:nvSpPr>
        <p:spPr>
          <a:xfrm>
            <a:off x="8092440" y="3319272"/>
            <a:ext cx="1051560" cy="365760"/>
          </a:xfrm>
          <a:prstGeom prst="rect">
            <a:avLst/>
          </a:prstGeom>
          <a:noFill/>
          <a:ln/>
        </p:spPr>
        <p:txBody>
          <a:bodyPr wrap="square" lIns="0" tIns="0" rIns="0" bIns="0" rtlCol="0" anchor="ctr"/>
          <a:lstStyle/>
          <a:p>
            <a:pPr indent="0" marL="0">
              <a:buNone/>
            </a:pPr>
            <a:r>
              <a:rPr lang="en-US" sz="1800" b="1" dirty="0">
                <a:solidFill>
                  <a:srgbClr val="2E241E"/>
                </a:solidFill>
                <a:latin typeface="Cambria" pitchFamily="34" charset="0"/>
                <a:ea typeface="Cambria" pitchFamily="34" charset="-122"/>
                <a:cs typeface="Cambria" pitchFamily="34" charset="-120"/>
              </a:rPr>
              <a:t>+0.032</a:t>
            </a:r>
            <a:endParaRPr lang="en-US" sz="1800" dirty="0"/>
          </a:p>
        </p:txBody>
      </p:sp>
      <p:sp>
        <p:nvSpPr>
          <p:cNvPr id="10" name="Text 7"/>
          <p:cNvSpPr/>
          <p:nvPr/>
        </p:nvSpPr>
        <p:spPr>
          <a:xfrm>
            <a:off x="9189720" y="3273552"/>
            <a:ext cx="2359152" cy="685800"/>
          </a:xfrm>
          <a:prstGeom prst="rect">
            <a:avLst/>
          </a:prstGeom>
          <a:noFill/>
          <a:ln/>
        </p:spPr>
        <p:txBody>
          <a:bodyPr wrap="square" lIns="0" tIns="0" rIns="0" bIns="0" rtlCol="0" anchor="ctr"/>
          <a:lstStyle/>
          <a:p>
            <a:pPr indent="0" marL="0">
              <a:lnSpc>
                <a:spcPct val="105000"/>
              </a:lnSpc>
              <a:buNone/>
            </a:pPr>
            <a:r>
              <a:rPr lang="en-US" sz="1100" dirty="0">
                <a:solidFill>
                  <a:srgbClr val="7A7167"/>
                </a:solidFill>
                <a:latin typeface="Calibri" pitchFamily="34" charset="0"/>
                <a:ea typeface="Calibri" pitchFamily="34" charset="-122"/>
                <a:cs typeface="Calibri" pitchFamily="34" charset="-120"/>
              </a:rPr>
              <a:t>Contribution of synthetic augmentation — inside seed noise</a:t>
            </a:r>
            <a:endParaRPr lang="en-US" sz="1100" dirty="0"/>
          </a:p>
        </p:txBody>
      </p:sp>
      <p:sp>
        <p:nvSpPr>
          <p:cNvPr id="11" name="Text 8"/>
          <p:cNvSpPr/>
          <p:nvPr/>
        </p:nvSpPr>
        <p:spPr>
          <a:xfrm>
            <a:off x="8092440" y="4078224"/>
            <a:ext cx="1051560" cy="365760"/>
          </a:xfrm>
          <a:prstGeom prst="rect">
            <a:avLst/>
          </a:prstGeom>
          <a:noFill/>
          <a:ln/>
        </p:spPr>
        <p:txBody>
          <a:bodyPr wrap="square" lIns="0" tIns="0" rIns="0" bIns="0" rtlCol="0" anchor="ctr"/>
          <a:lstStyle/>
          <a:p>
            <a:pPr indent="0" marL="0">
              <a:buNone/>
            </a:pPr>
            <a:r>
              <a:rPr lang="en-US" sz="1800" b="1" dirty="0">
                <a:solidFill>
                  <a:srgbClr val="2E241E"/>
                </a:solidFill>
                <a:latin typeface="Cambria" pitchFamily="34" charset="0"/>
                <a:ea typeface="Cambria" pitchFamily="34" charset="-122"/>
                <a:cs typeface="Cambria" pitchFamily="34" charset="-120"/>
              </a:rPr>
              <a:t>−0.007</a:t>
            </a:r>
            <a:endParaRPr lang="en-US" sz="1800" dirty="0"/>
          </a:p>
        </p:txBody>
      </p:sp>
      <p:sp>
        <p:nvSpPr>
          <p:cNvPr id="12" name="Text 9"/>
          <p:cNvSpPr/>
          <p:nvPr/>
        </p:nvSpPr>
        <p:spPr>
          <a:xfrm>
            <a:off x="9189720" y="4032504"/>
            <a:ext cx="2359152" cy="685800"/>
          </a:xfrm>
          <a:prstGeom prst="rect">
            <a:avLst/>
          </a:prstGeom>
          <a:noFill/>
          <a:ln/>
        </p:spPr>
        <p:txBody>
          <a:bodyPr wrap="square" lIns="0" tIns="0" rIns="0" bIns="0" rtlCol="0" anchor="ctr"/>
          <a:lstStyle/>
          <a:p>
            <a:pPr indent="0" marL="0">
              <a:lnSpc>
                <a:spcPct val="105000"/>
              </a:lnSpc>
              <a:buNone/>
            </a:pPr>
            <a:r>
              <a:rPr lang="en-US" sz="1100" dirty="0">
                <a:solidFill>
                  <a:srgbClr val="7A7167"/>
                </a:solidFill>
                <a:latin typeface="Calibri" pitchFamily="34" charset="0"/>
                <a:ea typeface="Calibri" pitchFamily="34" charset="-122"/>
                <a:cs typeface="Calibri" pitchFamily="34" charset="-120"/>
              </a:rPr>
              <a:t>Effect of the 2.0 / 0.5 weighting scheme — immaterial</a:t>
            </a:r>
            <a:endParaRPr lang="en-US" sz="1100" dirty="0"/>
          </a:p>
        </p:txBody>
      </p:sp>
      <p:sp>
        <p:nvSpPr>
          <p:cNvPr id="13" name="Shape 10"/>
          <p:cNvSpPr/>
          <p:nvPr/>
        </p:nvSpPr>
        <p:spPr>
          <a:xfrm>
            <a:off x="640080" y="4956048"/>
            <a:ext cx="10911535" cy="1051560"/>
          </a:xfrm>
          <a:prstGeom prst="roundRect">
            <a:avLst>
              <a:gd name="adj" fmla="val 5217"/>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14" name="Text 11"/>
          <p:cNvSpPr/>
          <p:nvPr/>
        </p:nvSpPr>
        <p:spPr>
          <a:xfrm>
            <a:off x="1051560" y="5065776"/>
            <a:ext cx="10088575" cy="841248"/>
          </a:xfrm>
          <a:prstGeom prst="rect">
            <a:avLst/>
          </a:prstGeom>
          <a:noFill/>
          <a:ln/>
        </p:spPr>
        <p:txBody>
          <a:bodyPr wrap="square" lIns="0" tIns="0" rIns="0" bIns="0" rtlCol="0" anchor="ctr"/>
          <a:lstStyle/>
          <a:p>
            <a:pPr indent="0" marL="0">
              <a:lnSpc>
                <a:spcPct val="110000"/>
              </a:lnSpc>
              <a:buNone/>
            </a:pPr>
            <a:r>
              <a:rPr lang="en-US" sz="1350" dirty="0">
                <a:solidFill>
                  <a:srgbClr val="E0E1CE"/>
                </a:solidFill>
                <a:latin typeface="Calibri" pitchFamily="34" charset="0"/>
                <a:ea typeface="Calibri" pitchFamily="34" charset="-122"/>
                <a:cs typeface="Calibri" pitchFamily="34" charset="-120"/>
              </a:rPr>
              <a:t>The hybrid reaches F1 ≈ 0.29 against a target of 0.80. The usable classifier in this project came from local data alone — which is the central negative result, and more useful than a positive one.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12</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RQ2 — operational cost</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Measured per resource over four months and priced against published rates, under four scenarios</a:t>
            </a:r>
            <a:endParaRPr lang="en-US" sz="1400" dirty="0"/>
          </a:p>
        </p:txBody>
      </p:sp>
      <p:sp>
        <p:nvSpPr>
          <p:cNvPr id="5" name="Shape 3"/>
          <p:cNvSpPr/>
          <p:nvPr/>
        </p:nvSpPr>
        <p:spPr>
          <a:xfrm>
            <a:off x="640080" y="1828800"/>
            <a:ext cx="3246120" cy="1965960"/>
          </a:xfrm>
          <a:prstGeom prst="roundRect">
            <a:avLst>
              <a:gd name="adj" fmla="val 2791"/>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Text 4"/>
          <p:cNvSpPr/>
          <p:nvPr/>
        </p:nvSpPr>
        <p:spPr>
          <a:xfrm>
            <a:off x="914400" y="2011680"/>
            <a:ext cx="2697480" cy="658368"/>
          </a:xfrm>
          <a:prstGeom prst="rect">
            <a:avLst/>
          </a:prstGeom>
          <a:noFill/>
          <a:ln/>
        </p:spPr>
        <p:txBody>
          <a:bodyPr wrap="square" lIns="0" tIns="0" rIns="0" bIns="0" rtlCol="0" anchor="ctr"/>
          <a:lstStyle/>
          <a:p>
            <a:pPr indent="0" marL="0">
              <a:buNone/>
            </a:pPr>
            <a:r>
              <a:rPr lang="en-US" sz="3300" b="1" dirty="0">
                <a:solidFill>
                  <a:srgbClr val="5F7F6C"/>
                </a:solidFill>
                <a:latin typeface="Cambria" pitchFamily="34" charset="0"/>
                <a:ea typeface="Cambria" pitchFamily="34" charset="-122"/>
                <a:cs typeface="Cambria" pitchFamily="34" charset="-120"/>
              </a:rPr>
              <a:t>LKR 4,050</a:t>
            </a:r>
            <a:endParaRPr lang="en-US" sz="3300" dirty="0"/>
          </a:p>
        </p:txBody>
      </p:sp>
      <p:sp>
        <p:nvSpPr>
          <p:cNvPr id="7" name="Text 5"/>
          <p:cNvSpPr/>
          <p:nvPr/>
        </p:nvSpPr>
        <p:spPr>
          <a:xfrm>
            <a:off x="914400" y="2706624"/>
            <a:ext cx="2697480" cy="914400"/>
          </a:xfrm>
          <a:prstGeom prst="rect">
            <a:avLst/>
          </a:prstGeom>
          <a:noFill/>
          <a:ln/>
        </p:spPr>
        <p:txBody>
          <a:bodyPr wrap="square" lIns="0" tIns="0" rIns="0" bIns="0" rtlCol="0" anchor="t"/>
          <a:lstStyle/>
          <a:p>
            <a:pPr indent="0" marL="0">
              <a:lnSpc>
                <a:spcPct val="108000"/>
              </a:lnSpc>
              <a:buNone/>
            </a:pPr>
            <a:r>
              <a:rPr lang="en-US" sz="1250" dirty="0">
                <a:solidFill>
                  <a:srgbClr val="7A7167"/>
                </a:solidFill>
                <a:latin typeface="Calibri" pitchFamily="34" charset="0"/>
                <a:ea typeface="Calibri" pitchFamily="34" charset="-122"/>
                <a:cs typeface="Calibri" pitchFamily="34" charset="-120"/>
              </a:rPr>
              <a:t>per month, on the most conservative of the four scenarios — roughly 2.5× inside the ceiling.</a:t>
            </a:r>
            <a:endParaRPr lang="en-US" sz="1250" dirty="0"/>
          </a:p>
        </p:txBody>
      </p:sp>
      <p:graphicFrame>
        <p:nvGraphicFramePr>
          <p:cNvPr id="8" name="Chart 0" descr=""/>
          <p:cNvGraphicFramePr/>
          <p:nvPr/>
        </p:nvGraphicFramePr>
        <p:xfrm>
          <a:off x="4114800" y="1783080"/>
          <a:ext cx="7434072" cy="269748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40080" y="4663440"/>
            <a:ext cx="3465576" cy="1207008"/>
          </a:xfrm>
          <a:prstGeom prst="roundRect">
            <a:avLst>
              <a:gd name="adj" fmla="val 4545"/>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10" name="Text 7"/>
          <p:cNvSpPr/>
          <p:nvPr/>
        </p:nvSpPr>
        <p:spPr>
          <a:xfrm>
            <a:off x="877824" y="4754880"/>
            <a:ext cx="2999232" cy="320040"/>
          </a:xfrm>
          <a:prstGeom prst="rect">
            <a:avLst/>
          </a:prstGeom>
          <a:noFill/>
          <a:ln/>
        </p:spPr>
        <p:txBody>
          <a:bodyPr wrap="square" lIns="0" tIns="0" rIns="0" bIns="0" rtlCol="0" anchor="ctr"/>
          <a:lstStyle/>
          <a:p>
            <a:pPr indent="0" marL="0">
              <a:buNone/>
            </a:pPr>
            <a:r>
              <a:rPr lang="en-US" sz="1300" b="1" dirty="0">
                <a:solidFill>
                  <a:srgbClr val="2E241E"/>
                </a:solidFill>
                <a:latin typeface="Calibri" pitchFamily="34" charset="0"/>
                <a:ea typeface="Calibri" pitchFamily="34" charset="-122"/>
                <a:cs typeface="Calibri" pitchFamily="34" charset="-120"/>
              </a:rPr>
              <a:t>Compute is not the cost</a:t>
            </a:r>
            <a:endParaRPr lang="en-US" sz="1300" dirty="0"/>
          </a:p>
        </p:txBody>
      </p:sp>
      <p:sp>
        <p:nvSpPr>
          <p:cNvPr id="11" name="Text 8"/>
          <p:cNvSpPr/>
          <p:nvPr/>
        </p:nvSpPr>
        <p:spPr>
          <a:xfrm>
            <a:off x="877824" y="5074920"/>
            <a:ext cx="2999232" cy="731520"/>
          </a:xfrm>
          <a:prstGeom prst="rect">
            <a:avLst/>
          </a:prstGeom>
          <a:noFill/>
          <a:ln/>
        </p:spPr>
        <p:txBody>
          <a:bodyPr wrap="square" lIns="0" tIns="0" rIns="0" bIns="0" rtlCol="0" anchor="t"/>
          <a:lstStyle/>
          <a:p>
            <a:pPr indent="0" marL="0">
              <a:lnSpc>
                <a:spcPct val="105000"/>
              </a:lnSpc>
              <a:buNone/>
            </a:pPr>
            <a:r>
              <a:rPr lang="en-US" sz="1100" dirty="0">
                <a:solidFill>
                  <a:srgbClr val="7A7167"/>
                </a:solidFill>
                <a:latin typeface="Calibri" pitchFamily="34" charset="0"/>
                <a:ea typeface="Calibri" pitchFamily="34" charset="-122"/>
                <a:cs typeface="Calibri" pitchFamily="34" charset="-120"/>
              </a:rPr>
              <a:t>All three services total about LKR 82 per month and fall inside the free tier.</a:t>
            </a:r>
            <a:endParaRPr lang="en-US" sz="1100" dirty="0"/>
          </a:p>
        </p:txBody>
      </p:sp>
      <p:sp>
        <p:nvSpPr>
          <p:cNvPr id="12" name="Shape 9"/>
          <p:cNvSpPr/>
          <p:nvPr/>
        </p:nvSpPr>
        <p:spPr>
          <a:xfrm>
            <a:off x="4379976" y="4663440"/>
            <a:ext cx="3465576" cy="1207008"/>
          </a:xfrm>
          <a:prstGeom prst="roundRect">
            <a:avLst>
              <a:gd name="adj" fmla="val 4545"/>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13" name="Text 10"/>
          <p:cNvSpPr/>
          <p:nvPr/>
        </p:nvSpPr>
        <p:spPr>
          <a:xfrm>
            <a:off x="4617720" y="4754880"/>
            <a:ext cx="2999232" cy="320040"/>
          </a:xfrm>
          <a:prstGeom prst="rect">
            <a:avLst/>
          </a:prstGeom>
          <a:noFill/>
          <a:ln/>
        </p:spPr>
        <p:txBody>
          <a:bodyPr wrap="square" lIns="0" tIns="0" rIns="0" bIns="0" rtlCol="0" anchor="ctr"/>
          <a:lstStyle/>
          <a:p>
            <a:pPr indent="0" marL="0">
              <a:buNone/>
            </a:pPr>
            <a:r>
              <a:rPr lang="en-US" sz="1300" b="1" dirty="0">
                <a:solidFill>
                  <a:srgbClr val="2E241E"/>
                </a:solidFill>
                <a:latin typeface="Calibri" pitchFamily="34" charset="0"/>
                <a:ea typeface="Calibri" pitchFamily="34" charset="-122"/>
                <a:cs typeface="Calibri" pitchFamily="34" charset="-120"/>
              </a:rPr>
              <a:t>The always-on database dominates</a:t>
            </a:r>
            <a:endParaRPr lang="en-US" sz="1300" dirty="0"/>
          </a:p>
        </p:txBody>
      </p:sp>
      <p:sp>
        <p:nvSpPr>
          <p:cNvPr id="14" name="Text 11"/>
          <p:cNvSpPr/>
          <p:nvPr/>
        </p:nvSpPr>
        <p:spPr>
          <a:xfrm>
            <a:off x="4617720" y="5074920"/>
            <a:ext cx="2999232" cy="731520"/>
          </a:xfrm>
          <a:prstGeom prst="rect">
            <a:avLst/>
          </a:prstGeom>
          <a:noFill/>
          <a:ln/>
        </p:spPr>
        <p:txBody>
          <a:bodyPr wrap="square" lIns="0" tIns="0" rIns="0" bIns="0" rtlCol="0" anchor="t"/>
          <a:lstStyle/>
          <a:p>
            <a:pPr indent="0" marL="0">
              <a:lnSpc>
                <a:spcPct val="105000"/>
              </a:lnSpc>
              <a:buNone/>
            </a:pPr>
            <a:r>
              <a:rPr lang="en-US" sz="1100" dirty="0">
                <a:solidFill>
                  <a:srgbClr val="7A7167"/>
                </a:solidFill>
                <a:latin typeface="Calibri" pitchFamily="34" charset="0"/>
                <a:ea typeface="Calibri" pitchFamily="34" charset="-122"/>
                <a:cs typeface="Calibri" pitchFamily="34" charset="-120"/>
              </a:rPr>
              <a:t>At roughly 70% of spend, the one component that cannot scale to zero is the one that costs money.</a:t>
            </a:r>
            <a:endParaRPr lang="en-US" sz="1100" dirty="0"/>
          </a:p>
        </p:txBody>
      </p:sp>
      <p:sp>
        <p:nvSpPr>
          <p:cNvPr id="15" name="Shape 12"/>
          <p:cNvSpPr/>
          <p:nvPr/>
        </p:nvSpPr>
        <p:spPr>
          <a:xfrm>
            <a:off x="8119872" y="4663440"/>
            <a:ext cx="3465576" cy="1207008"/>
          </a:xfrm>
          <a:prstGeom prst="roundRect">
            <a:avLst>
              <a:gd name="adj" fmla="val 4545"/>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16" name="Text 13"/>
          <p:cNvSpPr/>
          <p:nvPr/>
        </p:nvSpPr>
        <p:spPr>
          <a:xfrm>
            <a:off x="8357616" y="4754880"/>
            <a:ext cx="2999232" cy="320040"/>
          </a:xfrm>
          <a:prstGeom prst="rect">
            <a:avLst/>
          </a:prstGeom>
          <a:noFill/>
          <a:ln/>
        </p:spPr>
        <p:txBody>
          <a:bodyPr wrap="square" lIns="0" tIns="0" rIns="0" bIns="0" rtlCol="0" anchor="ctr"/>
          <a:lstStyle/>
          <a:p>
            <a:pPr indent="0" marL="0">
              <a:buNone/>
            </a:pPr>
            <a:r>
              <a:rPr lang="en-US" sz="1300" b="1" dirty="0">
                <a:solidFill>
                  <a:srgbClr val="2E241E"/>
                </a:solidFill>
                <a:latin typeface="Calibri" pitchFamily="34" charset="0"/>
                <a:ea typeface="Calibri" pitchFamily="34" charset="-122"/>
                <a:cs typeface="Calibri" pitchFamily="34" charset="-120"/>
              </a:rPr>
              <a:t>Container images are a hidden line item</a:t>
            </a:r>
            <a:endParaRPr lang="en-US" sz="1300" dirty="0"/>
          </a:p>
        </p:txBody>
      </p:sp>
      <p:sp>
        <p:nvSpPr>
          <p:cNvPr id="17" name="Text 14"/>
          <p:cNvSpPr/>
          <p:nvPr/>
        </p:nvSpPr>
        <p:spPr>
          <a:xfrm>
            <a:off x="8357616" y="5074920"/>
            <a:ext cx="2999232" cy="731520"/>
          </a:xfrm>
          <a:prstGeom prst="rect">
            <a:avLst/>
          </a:prstGeom>
          <a:noFill/>
          <a:ln/>
        </p:spPr>
        <p:txBody>
          <a:bodyPr wrap="square" lIns="0" tIns="0" rIns="0" bIns="0" rtlCol="0" anchor="t"/>
          <a:lstStyle/>
          <a:p>
            <a:pPr indent="0" marL="0">
              <a:lnSpc>
                <a:spcPct val="105000"/>
              </a:lnSpc>
              <a:buNone/>
            </a:pPr>
            <a:r>
              <a:rPr lang="en-US" sz="1100" dirty="0">
                <a:solidFill>
                  <a:srgbClr val="7A7167"/>
                </a:solidFill>
                <a:latin typeface="Calibri" pitchFamily="34" charset="0"/>
                <a:ea typeface="Calibri" pitchFamily="34" charset="-122"/>
                <a:cs typeface="Calibri" pitchFamily="34" charset="-120"/>
              </a:rPr>
              <a:t>LKR 1,140 per month of accumulated build artefacts — real, but removable with a retention policy.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13</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Usability — what was found, and what was not</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The planned SUS study did not run. A heuristic inspection was substituted and is reported as a substitution.</a:t>
            </a:r>
            <a:endParaRPr lang="en-US" sz="1400" dirty="0"/>
          </a:p>
        </p:txBody>
      </p:sp>
      <p:graphicFrame>
        <p:nvGraphicFramePr>
          <p:cNvPr id="5" name="Chart 0" descr=""/>
          <p:cNvGraphicFramePr/>
          <p:nvPr/>
        </p:nvGraphicFramePr>
        <p:xfrm>
          <a:off x="640080" y="1874520"/>
          <a:ext cx="4663440" cy="26974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32120" y="2066544"/>
            <a:ext cx="457200" cy="457200"/>
          </a:xfrm>
          <a:prstGeom prst="ellipse">
            <a:avLst/>
          </a:prstGeom>
          <a:solidFill>
            <a:srgbClr val="B85042"/>
          </a:solidFill>
          <a:ln w="12700">
            <a:solidFill>
              <a:srgbClr val="B85042"/>
            </a:solidFill>
            <a:prstDash val="solid"/>
          </a:ln>
        </p:spPr>
      </p:sp>
      <p:sp>
        <p:nvSpPr>
          <p:cNvPr id="7" name="Text 4"/>
          <p:cNvSpPr/>
          <p:nvPr/>
        </p:nvSpPr>
        <p:spPr>
          <a:xfrm>
            <a:off x="5532120" y="20665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p>
        </p:txBody>
      </p:sp>
      <p:sp>
        <p:nvSpPr>
          <p:cNvPr id="8" name="Text 5"/>
          <p:cNvSpPr/>
          <p:nvPr/>
        </p:nvSpPr>
        <p:spPr>
          <a:xfrm>
            <a:off x="6172200" y="1874520"/>
            <a:ext cx="5376672" cy="841248"/>
          </a:xfrm>
          <a:prstGeom prst="rect">
            <a:avLst/>
          </a:prstGeom>
          <a:noFill/>
          <a:ln/>
        </p:spPr>
        <p:txBody>
          <a:bodyPr wrap="square" lIns="0" tIns="0" rIns="0" bIns="0" rtlCol="0" anchor="ctr"/>
          <a:lstStyle/>
          <a:p>
            <a:pPr indent="0" marL="0">
              <a:lnSpc>
                <a:spcPct val="106000"/>
              </a:lnSpc>
              <a:buNone/>
            </a:pPr>
            <a:r>
              <a:rPr lang="en-US" sz="1200" dirty="0">
                <a:solidFill>
                  <a:srgbClr val="3A322C"/>
                </a:solidFill>
                <a:latin typeface="Calibri" pitchFamily="34" charset="0"/>
                <a:ea typeface="Calibri" pitchFamily="34" charset="-122"/>
                <a:cs typeface="Calibri" pitchFamily="34" charset="-120"/>
              </a:rPr>
              <a:t>Neutral inputs on every construct return a HIGH risk band. The card explains what the number is, never what to do with it.</a:t>
            </a:r>
            <a:endParaRPr lang="en-US" sz="1200" dirty="0"/>
          </a:p>
        </p:txBody>
      </p:sp>
      <p:sp>
        <p:nvSpPr>
          <p:cNvPr id="9" name="Shape 6"/>
          <p:cNvSpPr/>
          <p:nvPr/>
        </p:nvSpPr>
        <p:spPr>
          <a:xfrm>
            <a:off x="5532120" y="2999232"/>
            <a:ext cx="457200" cy="457200"/>
          </a:xfrm>
          <a:prstGeom prst="ellipse">
            <a:avLst/>
          </a:prstGeom>
          <a:solidFill>
            <a:srgbClr val="B85042"/>
          </a:solidFill>
          <a:ln w="12700">
            <a:solidFill>
              <a:srgbClr val="B85042"/>
            </a:solidFill>
            <a:prstDash val="solid"/>
          </a:ln>
        </p:spPr>
      </p:sp>
      <p:sp>
        <p:nvSpPr>
          <p:cNvPr id="10" name="Text 7"/>
          <p:cNvSpPr/>
          <p:nvPr/>
        </p:nvSpPr>
        <p:spPr>
          <a:xfrm>
            <a:off x="5532120" y="29992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F3</a:t>
            </a:r>
            <a:endParaRPr lang="en-US" sz="1300" dirty="0"/>
          </a:p>
        </p:txBody>
      </p:sp>
      <p:sp>
        <p:nvSpPr>
          <p:cNvPr id="11" name="Text 8"/>
          <p:cNvSpPr/>
          <p:nvPr/>
        </p:nvSpPr>
        <p:spPr>
          <a:xfrm>
            <a:off x="6172200" y="2807208"/>
            <a:ext cx="5376672" cy="841248"/>
          </a:xfrm>
          <a:prstGeom prst="rect">
            <a:avLst/>
          </a:prstGeom>
          <a:noFill/>
          <a:ln/>
        </p:spPr>
        <p:txBody>
          <a:bodyPr wrap="square" lIns="0" tIns="0" rIns="0" bIns="0" rtlCol="0" anchor="ctr"/>
          <a:lstStyle/>
          <a:p>
            <a:pPr indent="0" marL="0">
              <a:lnSpc>
                <a:spcPct val="106000"/>
              </a:lnSpc>
              <a:buNone/>
            </a:pPr>
            <a:r>
              <a:rPr lang="en-US" sz="1200" dirty="0">
                <a:solidFill>
                  <a:srgbClr val="3A322C"/>
                </a:solidFill>
                <a:latin typeface="Calibri" pitchFamily="34" charset="0"/>
                <a:ea typeface="Calibri" pitchFamily="34" charset="-122"/>
                <a:cs typeface="Calibri" pitchFamily="34" charset="-120"/>
              </a:rPr>
              <a:t>There is no workforce risk view. The system’s primary question — who should I worry about? — has no interface.</a:t>
            </a:r>
            <a:endParaRPr lang="en-US" sz="1200" dirty="0"/>
          </a:p>
        </p:txBody>
      </p:sp>
      <p:sp>
        <p:nvSpPr>
          <p:cNvPr id="12" name="Shape 9"/>
          <p:cNvSpPr/>
          <p:nvPr/>
        </p:nvSpPr>
        <p:spPr>
          <a:xfrm>
            <a:off x="5532120" y="3931920"/>
            <a:ext cx="457200" cy="457200"/>
          </a:xfrm>
          <a:prstGeom prst="ellipse">
            <a:avLst/>
          </a:prstGeom>
          <a:solidFill>
            <a:srgbClr val="5F7F6C"/>
          </a:solidFill>
          <a:ln w="12700">
            <a:solidFill>
              <a:srgbClr val="5F7F6C"/>
            </a:solidFill>
            <a:prstDash val="solid"/>
          </a:ln>
        </p:spPr>
      </p:sp>
      <p:sp>
        <p:nvSpPr>
          <p:cNvPr id="13" name="Text 10"/>
          <p:cNvSpPr/>
          <p:nvPr/>
        </p:nvSpPr>
        <p:spPr>
          <a:xfrm>
            <a:off x="5532120" y="39319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F13</a:t>
            </a:r>
            <a:endParaRPr lang="en-US" sz="1300" dirty="0"/>
          </a:p>
        </p:txBody>
      </p:sp>
      <p:sp>
        <p:nvSpPr>
          <p:cNvPr id="14" name="Text 11"/>
          <p:cNvSpPr/>
          <p:nvPr/>
        </p:nvSpPr>
        <p:spPr>
          <a:xfrm>
            <a:off x="6172200" y="3739896"/>
            <a:ext cx="5376672" cy="841248"/>
          </a:xfrm>
          <a:prstGeom prst="rect">
            <a:avLst/>
          </a:prstGeom>
          <a:noFill/>
          <a:ln/>
        </p:spPr>
        <p:txBody>
          <a:bodyPr wrap="square" lIns="0" tIns="0" rIns="0" bIns="0" rtlCol="0" anchor="ctr"/>
          <a:lstStyle/>
          <a:p>
            <a:pPr indent="0" marL="0">
              <a:lnSpc>
                <a:spcPct val="106000"/>
              </a:lnSpc>
              <a:buNone/>
            </a:pPr>
            <a:r>
              <a:rPr lang="en-US" sz="1200" dirty="0">
                <a:solidFill>
                  <a:srgbClr val="3A322C"/>
                </a:solidFill>
                <a:latin typeface="Calibri" pitchFamily="34" charset="0"/>
                <a:ea typeface="Calibri" pitchFamily="34" charset="-122"/>
                <a:cs typeface="Calibri" pitchFamily="34" charset="-120"/>
              </a:rPr>
              <a:t>A first-time user is not told where to begin. No onboarding, no entry-point cue.</a:t>
            </a:r>
            <a:endParaRPr lang="en-US" sz="1200" dirty="0"/>
          </a:p>
        </p:txBody>
      </p:sp>
      <p:sp>
        <p:nvSpPr>
          <p:cNvPr id="15" name="Shape 12"/>
          <p:cNvSpPr/>
          <p:nvPr/>
        </p:nvSpPr>
        <p:spPr>
          <a:xfrm>
            <a:off x="640080" y="4754880"/>
            <a:ext cx="10911535" cy="1280160"/>
          </a:xfrm>
          <a:prstGeom prst="roundRect">
            <a:avLst>
              <a:gd name="adj" fmla="val 4286"/>
            </a:avLst>
          </a:prstGeom>
          <a:solidFill>
            <a:srgbClr val="2E241E"/>
          </a:solidFill>
          <a:ln w="12700">
            <a:solidFill>
              <a:srgbClr val="2E241E"/>
            </a:solidFill>
            <a:prstDash val="solid"/>
          </a:ln>
          <a:effectLst>
            <a:outerShdw sx="100000" sy="100000" kx="0" ky="0" algn="bl" rotWithShape="0" blurRad="76200" dist="12700" dir="5400000">
              <a:srgbClr val="000000">
                <a:alpha val="7000"/>
              </a:srgbClr>
            </a:outerShdw>
          </a:effectLst>
        </p:spPr>
      </p:sp>
      <p:sp>
        <p:nvSpPr>
          <p:cNvPr id="16" name="Text 13"/>
          <p:cNvSpPr/>
          <p:nvPr/>
        </p:nvSpPr>
        <p:spPr>
          <a:xfrm>
            <a:off x="1051560" y="4882896"/>
            <a:ext cx="10088575"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Taken together, F1, F3 and F13 indicate that the barrier to this system being adopted is not its accuracy.</a:t>
            </a:r>
            <a:endParaRPr lang="en-US" sz="1500" dirty="0"/>
          </a:p>
        </p:txBody>
      </p:sp>
      <p:sp>
        <p:nvSpPr>
          <p:cNvPr id="17" name="Text 14"/>
          <p:cNvSpPr/>
          <p:nvPr/>
        </p:nvSpPr>
        <p:spPr>
          <a:xfrm>
            <a:off x="1051560" y="5358384"/>
            <a:ext cx="10088575" cy="548640"/>
          </a:xfrm>
          <a:prstGeom prst="rect">
            <a:avLst/>
          </a:prstGeom>
          <a:noFill/>
          <a:ln/>
        </p:spPr>
        <p:txBody>
          <a:bodyPr wrap="square" lIns="0" tIns="0" rIns="0" bIns="0" rtlCol="0" anchor="ctr"/>
          <a:lstStyle/>
          <a:p>
            <a:pPr indent="0" marL="0">
              <a:lnSpc>
                <a:spcPct val="108000"/>
              </a:lnSpc>
              <a:buNone/>
            </a:pPr>
            <a:r>
              <a:rPr lang="en-US" sz="1200" dirty="0">
                <a:solidFill>
                  <a:srgbClr val="E0E1CE"/>
                </a:solidFill>
                <a:latin typeface="Calibri" pitchFamily="34" charset="0"/>
                <a:ea typeface="Calibri" pitchFamily="34" charset="-122"/>
                <a:cs typeface="Calibri" pitchFamily="34" charset="-120"/>
              </a:rPr>
              <a:t>Two evaluators contributed and the split is declared: the author, and an AI assistant driving a scripted browser. F13 could only have come from the human one — an automated evaluator cannot feel lost.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14</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Limitations</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Stated in Chapter 6 without softening, and summarised here the same way</a:t>
            </a:r>
            <a:endParaRPr lang="en-US" sz="1400" dirty="0"/>
          </a:p>
        </p:txBody>
      </p:sp>
      <p:sp>
        <p:nvSpPr>
          <p:cNvPr id="5" name="Shape 3"/>
          <p:cNvSpPr/>
          <p:nvPr/>
        </p:nvSpPr>
        <p:spPr>
          <a:xfrm>
            <a:off x="640080" y="1874520"/>
            <a:ext cx="5367528"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6" name="Text 4"/>
          <p:cNvSpPr/>
          <p:nvPr/>
        </p:nvSpPr>
        <p:spPr>
          <a:xfrm>
            <a:off x="896112" y="1965960"/>
            <a:ext cx="4846320" cy="274320"/>
          </a:xfrm>
          <a:prstGeom prst="rect">
            <a:avLst/>
          </a:prstGeom>
          <a:noFill/>
          <a:ln/>
        </p:spPr>
        <p:txBody>
          <a:bodyPr wrap="square" lIns="0" tIns="0" rIns="0" bIns="0" rtlCol="0" anchor="ctr"/>
          <a:lstStyle/>
          <a:p>
            <a:pPr indent="0" marL="0">
              <a:buNone/>
            </a:pPr>
            <a:r>
              <a:rPr lang="en-US" sz="1200" b="1" spc="100" kern="0" dirty="0">
                <a:solidFill>
                  <a:srgbClr val="B85042"/>
                </a:solidFill>
                <a:latin typeface="Calibri" pitchFamily="34" charset="0"/>
                <a:ea typeface="Calibri" pitchFamily="34" charset="-122"/>
                <a:cs typeface="Calibri" pitchFamily="34" charset="-120"/>
              </a:rPr>
              <a:t>Outcome</a:t>
            </a:r>
            <a:endParaRPr lang="en-US" sz="1200" dirty="0"/>
          </a:p>
        </p:txBody>
      </p:sp>
      <p:sp>
        <p:nvSpPr>
          <p:cNvPr id="7" name="Text 5"/>
          <p:cNvSpPr/>
          <p:nvPr/>
        </p:nvSpPr>
        <p:spPr>
          <a:xfrm>
            <a:off x="896112" y="2240280"/>
            <a:ext cx="4864608" cy="676656"/>
          </a:xfrm>
          <a:prstGeom prst="rect">
            <a:avLst/>
          </a:prstGeom>
          <a:noFill/>
          <a:ln/>
        </p:spPr>
        <p:txBody>
          <a:bodyPr wrap="square" lIns="0" tIns="0" rIns="0" bIns="0" rtlCol="0" anchor="t"/>
          <a:lstStyle/>
          <a:p>
            <a:pPr indent="0" marL="0">
              <a:lnSpc>
                <a:spcPct val="106000"/>
              </a:lnSpc>
              <a:buNone/>
            </a:pPr>
            <a:r>
              <a:rPr lang="en-US" sz="1150" dirty="0">
                <a:solidFill>
                  <a:srgbClr val="3A322C"/>
                </a:solidFill>
                <a:latin typeface="Calibri" pitchFamily="34" charset="0"/>
                <a:ea typeface="Calibri" pitchFamily="34" charset="-122"/>
                <a:cs typeface="Calibri" pitchFamily="34" charset="-120"/>
              </a:rPr>
              <a:t>The Sri Lankan outcome is turnover intention, not observed departure. Every local claim is a claim about intention.</a:t>
            </a:r>
            <a:endParaRPr lang="en-US" sz="1150" dirty="0"/>
          </a:p>
        </p:txBody>
      </p:sp>
      <p:sp>
        <p:nvSpPr>
          <p:cNvPr id="8" name="Shape 6"/>
          <p:cNvSpPr/>
          <p:nvPr/>
        </p:nvSpPr>
        <p:spPr>
          <a:xfrm>
            <a:off x="6281928" y="1874520"/>
            <a:ext cx="5367528"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9" name="Text 7"/>
          <p:cNvSpPr/>
          <p:nvPr/>
        </p:nvSpPr>
        <p:spPr>
          <a:xfrm>
            <a:off x="6537960" y="1965960"/>
            <a:ext cx="4846320" cy="274320"/>
          </a:xfrm>
          <a:prstGeom prst="rect">
            <a:avLst/>
          </a:prstGeom>
          <a:noFill/>
          <a:ln/>
        </p:spPr>
        <p:txBody>
          <a:bodyPr wrap="square" lIns="0" tIns="0" rIns="0" bIns="0" rtlCol="0" anchor="ctr"/>
          <a:lstStyle/>
          <a:p>
            <a:pPr indent="0" marL="0">
              <a:buNone/>
            </a:pPr>
            <a:r>
              <a:rPr lang="en-US" sz="1200" b="1" spc="100" kern="0" dirty="0">
                <a:solidFill>
                  <a:srgbClr val="B85042"/>
                </a:solidFill>
                <a:latin typeface="Calibri" pitchFamily="34" charset="0"/>
                <a:ea typeface="Calibri" pitchFamily="34" charset="-122"/>
                <a:cs typeface="Calibri" pitchFamily="34" charset="-120"/>
              </a:rPr>
              <a:t>Common method</a:t>
            </a:r>
            <a:endParaRPr lang="en-US" sz="1200" dirty="0"/>
          </a:p>
        </p:txBody>
      </p:sp>
      <p:sp>
        <p:nvSpPr>
          <p:cNvPr id="10" name="Text 8"/>
          <p:cNvSpPr/>
          <p:nvPr/>
        </p:nvSpPr>
        <p:spPr>
          <a:xfrm>
            <a:off x="6537960" y="2240280"/>
            <a:ext cx="4864608" cy="676656"/>
          </a:xfrm>
          <a:prstGeom prst="rect">
            <a:avLst/>
          </a:prstGeom>
          <a:noFill/>
          <a:ln/>
        </p:spPr>
        <p:txBody>
          <a:bodyPr wrap="square" lIns="0" tIns="0" rIns="0" bIns="0" rtlCol="0" anchor="t"/>
          <a:lstStyle/>
          <a:p>
            <a:pPr indent="0" marL="0">
              <a:lnSpc>
                <a:spcPct val="106000"/>
              </a:lnSpc>
              <a:buNone/>
            </a:pPr>
            <a:r>
              <a:rPr lang="en-US" sz="1150" dirty="0">
                <a:solidFill>
                  <a:srgbClr val="3A322C"/>
                </a:solidFill>
                <a:latin typeface="Calibri" pitchFamily="34" charset="0"/>
                <a:ea typeface="Calibri" pitchFamily="34" charset="-122"/>
                <a:cs typeface="Calibri" pitchFamily="34" charset="-120"/>
              </a:rPr>
              <a:t>Predictors and outcome come from one self-report instrument. The design cannot quantify how much that inflates the result.</a:t>
            </a:r>
            <a:endParaRPr lang="en-US" sz="1150" dirty="0"/>
          </a:p>
        </p:txBody>
      </p:sp>
      <p:sp>
        <p:nvSpPr>
          <p:cNvPr id="11" name="Shape 9"/>
          <p:cNvSpPr/>
          <p:nvPr/>
        </p:nvSpPr>
        <p:spPr>
          <a:xfrm>
            <a:off x="640080" y="3172968"/>
            <a:ext cx="5367528"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2" name="Text 10"/>
          <p:cNvSpPr/>
          <p:nvPr/>
        </p:nvSpPr>
        <p:spPr>
          <a:xfrm>
            <a:off x="896112" y="3264408"/>
            <a:ext cx="4846320" cy="274320"/>
          </a:xfrm>
          <a:prstGeom prst="rect">
            <a:avLst/>
          </a:prstGeom>
          <a:noFill/>
          <a:ln/>
        </p:spPr>
        <p:txBody>
          <a:bodyPr wrap="square" lIns="0" tIns="0" rIns="0" bIns="0" rtlCol="0" anchor="ctr"/>
          <a:lstStyle/>
          <a:p>
            <a:pPr indent="0" marL="0">
              <a:buNone/>
            </a:pPr>
            <a:r>
              <a:rPr lang="en-US" sz="1200" b="1" spc="100" kern="0" dirty="0">
                <a:solidFill>
                  <a:srgbClr val="B85042"/>
                </a:solidFill>
                <a:latin typeface="Calibri" pitchFamily="34" charset="0"/>
                <a:ea typeface="Calibri" pitchFamily="34" charset="-122"/>
                <a:cs typeface="Calibri" pitchFamily="34" charset="-120"/>
              </a:rPr>
              <a:t>Sample size</a:t>
            </a:r>
            <a:endParaRPr lang="en-US" sz="1200" dirty="0"/>
          </a:p>
        </p:txBody>
      </p:sp>
      <p:sp>
        <p:nvSpPr>
          <p:cNvPr id="13" name="Text 11"/>
          <p:cNvSpPr/>
          <p:nvPr/>
        </p:nvSpPr>
        <p:spPr>
          <a:xfrm>
            <a:off x="896112" y="3538728"/>
            <a:ext cx="4864608" cy="676656"/>
          </a:xfrm>
          <a:prstGeom prst="rect">
            <a:avLst/>
          </a:prstGeom>
          <a:noFill/>
          <a:ln/>
        </p:spPr>
        <p:txBody>
          <a:bodyPr wrap="square" lIns="0" tIns="0" rIns="0" bIns="0" rtlCol="0" anchor="t"/>
          <a:lstStyle/>
          <a:p>
            <a:pPr indent="0" marL="0">
              <a:lnSpc>
                <a:spcPct val="106000"/>
              </a:lnSpc>
              <a:buNone/>
            </a:pPr>
            <a:r>
              <a:rPr lang="en-US" sz="1150" dirty="0">
                <a:solidFill>
                  <a:srgbClr val="3A322C"/>
                </a:solidFill>
                <a:latin typeface="Calibri" pitchFamily="34" charset="0"/>
                <a:ea typeface="Calibri" pitchFamily="34" charset="-122"/>
                <a:cs typeface="Calibri" pitchFamily="34" charset="-120"/>
              </a:rPr>
              <a:t>230 records, 33 positives, bootstrap interval [0.883, 0.982] — and drawn from startup professionals, not the SME population targeted.</a:t>
            </a:r>
            <a:endParaRPr lang="en-US" sz="1150" dirty="0"/>
          </a:p>
        </p:txBody>
      </p:sp>
      <p:sp>
        <p:nvSpPr>
          <p:cNvPr id="14" name="Shape 12"/>
          <p:cNvSpPr/>
          <p:nvPr/>
        </p:nvSpPr>
        <p:spPr>
          <a:xfrm>
            <a:off x="6281928" y="3172968"/>
            <a:ext cx="5367528"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5" name="Text 13"/>
          <p:cNvSpPr/>
          <p:nvPr/>
        </p:nvSpPr>
        <p:spPr>
          <a:xfrm>
            <a:off x="6537960" y="3264408"/>
            <a:ext cx="4846320" cy="274320"/>
          </a:xfrm>
          <a:prstGeom prst="rect">
            <a:avLst/>
          </a:prstGeom>
          <a:noFill/>
          <a:ln/>
        </p:spPr>
        <p:txBody>
          <a:bodyPr wrap="square" lIns="0" tIns="0" rIns="0" bIns="0" rtlCol="0" anchor="ctr"/>
          <a:lstStyle/>
          <a:p>
            <a:pPr indent="0" marL="0">
              <a:buNone/>
            </a:pPr>
            <a:r>
              <a:rPr lang="en-US" sz="1200" b="1" spc="100" kern="0" dirty="0">
                <a:solidFill>
                  <a:srgbClr val="B85042"/>
                </a:solidFill>
                <a:latin typeface="Calibri" pitchFamily="34" charset="0"/>
                <a:ea typeface="Calibri" pitchFamily="34" charset="-122"/>
                <a:cs typeface="Calibri" pitchFamily="34" charset="-120"/>
              </a:rPr>
              <a:t>Fairness</a:t>
            </a:r>
            <a:endParaRPr lang="en-US" sz="1200" dirty="0"/>
          </a:p>
        </p:txBody>
      </p:sp>
      <p:sp>
        <p:nvSpPr>
          <p:cNvPr id="16" name="Text 14"/>
          <p:cNvSpPr/>
          <p:nvPr/>
        </p:nvSpPr>
        <p:spPr>
          <a:xfrm>
            <a:off x="6537960" y="3538728"/>
            <a:ext cx="4864608" cy="676656"/>
          </a:xfrm>
          <a:prstGeom prst="rect">
            <a:avLst/>
          </a:prstGeom>
          <a:noFill/>
          <a:ln/>
        </p:spPr>
        <p:txBody>
          <a:bodyPr wrap="square" lIns="0" tIns="0" rIns="0" bIns="0" rtlCol="0" anchor="t"/>
          <a:lstStyle/>
          <a:p>
            <a:pPr indent="0" marL="0">
              <a:lnSpc>
                <a:spcPct val="106000"/>
              </a:lnSpc>
              <a:buNone/>
            </a:pPr>
            <a:r>
              <a:rPr lang="en-US" sz="1150" dirty="0">
                <a:solidFill>
                  <a:srgbClr val="3A322C"/>
                </a:solidFill>
                <a:latin typeface="Calibri" pitchFamily="34" charset="0"/>
                <a:ea typeface="Calibri" pitchFamily="34" charset="-122"/>
                <a:cs typeface="Calibri" pitchFamily="34" charset="-120"/>
              </a:rPr>
              <a:t>Unvalidated for women and for employees over 25: two and six positive cases. The system should not run on real employees until that changes.</a:t>
            </a:r>
            <a:endParaRPr lang="en-US" sz="1150" dirty="0"/>
          </a:p>
        </p:txBody>
      </p:sp>
      <p:sp>
        <p:nvSpPr>
          <p:cNvPr id="17" name="Shape 15"/>
          <p:cNvSpPr/>
          <p:nvPr/>
        </p:nvSpPr>
        <p:spPr>
          <a:xfrm>
            <a:off x="640080" y="4471416"/>
            <a:ext cx="5367528"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8" name="Text 16"/>
          <p:cNvSpPr/>
          <p:nvPr/>
        </p:nvSpPr>
        <p:spPr>
          <a:xfrm>
            <a:off x="896112" y="4562856"/>
            <a:ext cx="4846320" cy="274320"/>
          </a:xfrm>
          <a:prstGeom prst="rect">
            <a:avLst/>
          </a:prstGeom>
          <a:noFill/>
          <a:ln/>
        </p:spPr>
        <p:txBody>
          <a:bodyPr wrap="square" lIns="0" tIns="0" rIns="0" bIns="0" rtlCol="0" anchor="ctr"/>
          <a:lstStyle/>
          <a:p>
            <a:pPr indent="0" marL="0">
              <a:buNone/>
            </a:pPr>
            <a:r>
              <a:rPr lang="en-US" sz="1200" b="1" spc="100" kern="0" dirty="0">
                <a:solidFill>
                  <a:srgbClr val="B85042"/>
                </a:solidFill>
                <a:latin typeface="Calibri" pitchFamily="34" charset="0"/>
                <a:ea typeface="Calibri" pitchFamily="34" charset="-122"/>
                <a:cs typeface="Calibri" pitchFamily="34" charset="-120"/>
              </a:rPr>
              <a:t>Objective O5</a:t>
            </a:r>
            <a:endParaRPr lang="en-US" sz="1200" dirty="0"/>
          </a:p>
        </p:txBody>
      </p:sp>
      <p:sp>
        <p:nvSpPr>
          <p:cNvPr id="19" name="Text 17"/>
          <p:cNvSpPr/>
          <p:nvPr/>
        </p:nvSpPr>
        <p:spPr>
          <a:xfrm>
            <a:off x="896112" y="4837176"/>
            <a:ext cx="4864608" cy="676656"/>
          </a:xfrm>
          <a:prstGeom prst="rect">
            <a:avLst/>
          </a:prstGeom>
          <a:noFill/>
          <a:ln/>
        </p:spPr>
        <p:txBody>
          <a:bodyPr wrap="square" lIns="0" tIns="0" rIns="0" bIns="0" rtlCol="0" anchor="t"/>
          <a:lstStyle/>
          <a:p>
            <a:pPr indent="0" marL="0">
              <a:lnSpc>
                <a:spcPct val="106000"/>
              </a:lnSpc>
              <a:buNone/>
            </a:pPr>
            <a:r>
              <a:rPr lang="en-US" sz="1150" dirty="0">
                <a:solidFill>
                  <a:srgbClr val="3A322C"/>
                </a:solidFill>
                <a:latin typeface="Calibri" pitchFamily="34" charset="0"/>
                <a:ea typeface="Calibri" pitchFamily="34" charset="-122"/>
                <a:cs typeface="Calibri" pitchFamily="34" charset="-120"/>
              </a:rPr>
              <a:t>Usability was inspected, not measured. The “above 80” SUS target is neither met nor refuted.</a:t>
            </a:r>
            <a:endParaRPr lang="en-US" sz="1150" dirty="0"/>
          </a:p>
        </p:txBody>
      </p:sp>
      <p:sp>
        <p:nvSpPr>
          <p:cNvPr id="20" name="Shape 18"/>
          <p:cNvSpPr/>
          <p:nvPr/>
        </p:nvSpPr>
        <p:spPr>
          <a:xfrm>
            <a:off x="6281928" y="4471416"/>
            <a:ext cx="5367528" cy="1097280"/>
          </a:xfrm>
          <a:prstGeom prst="roundRect">
            <a:avLst>
              <a:gd name="adj" fmla="val 5000"/>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21" name="Text 19"/>
          <p:cNvSpPr/>
          <p:nvPr/>
        </p:nvSpPr>
        <p:spPr>
          <a:xfrm>
            <a:off x="6537960" y="4562856"/>
            <a:ext cx="4846320" cy="274320"/>
          </a:xfrm>
          <a:prstGeom prst="rect">
            <a:avLst/>
          </a:prstGeom>
          <a:noFill/>
          <a:ln/>
        </p:spPr>
        <p:txBody>
          <a:bodyPr wrap="square" lIns="0" tIns="0" rIns="0" bIns="0" rtlCol="0" anchor="ctr"/>
          <a:lstStyle/>
          <a:p>
            <a:pPr indent="0" marL="0">
              <a:buNone/>
            </a:pPr>
            <a:r>
              <a:rPr lang="en-US" sz="1200" b="1" spc="100" kern="0" dirty="0">
                <a:solidFill>
                  <a:srgbClr val="B85042"/>
                </a:solidFill>
                <a:latin typeface="Calibri" pitchFamily="34" charset="0"/>
                <a:ea typeface="Calibri" pitchFamily="34" charset="-122"/>
                <a:cs typeface="Calibri" pitchFamily="34" charset="-120"/>
              </a:rPr>
              <a:t>Compliance</a:t>
            </a:r>
            <a:endParaRPr lang="en-US" sz="1200" dirty="0"/>
          </a:p>
        </p:txBody>
      </p:sp>
      <p:sp>
        <p:nvSpPr>
          <p:cNvPr id="22" name="Text 20"/>
          <p:cNvSpPr/>
          <p:nvPr/>
        </p:nvSpPr>
        <p:spPr>
          <a:xfrm>
            <a:off x="6537960" y="4837176"/>
            <a:ext cx="4864608" cy="676656"/>
          </a:xfrm>
          <a:prstGeom prst="rect">
            <a:avLst/>
          </a:prstGeom>
          <a:noFill/>
          <a:ln/>
        </p:spPr>
        <p:txBody>
          <a:bodyPr wrap="square" lIns="0" tIns="0" rIns="0" bIns="0" rtlCol="0" anchor="t"/>
          <a:lstStyle/>
          <a:p>
            <a:pPr indent="0" marL="0">
              <a:lnSpc>
                <a:spcPct val="106000"/>
              </a:lnSpc>
              <a:buNone/>
            </a:pPr>
            <a:r>
              <a:rPr lang="en-US" sz="1150" dirty="0">
                <a:solidFill>
                  <a:srgbClr val="3A322C"/>
                </a:solidFill>
                <a:latin typeface="Calibri" pitchFamily="34" charset="0"/>
                <a:ea typeface="Calibri" pitchFamily="34" charset="-122"/>
                <a:cs typeface="Calibri" pitchFamily="34" charset="-120"/>
              </a:rPr>
              <a:t>What is established is a compliant design, not a compliance result. No real employee data was ever processed.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15</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Contributions</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Four claims, in order of weight</a:t>
            </a:r>
            <a:endParaRPr lang="en-US" sz="1400" dirty="0"/>
          </a:p>
        </p:txBody>
      </p:sp>
      <p:sp>
        <p:nvSpPr>
          <p:cNvPr id="5" name="Shape 3"/>
          <p:cNvSpPr/>
          <p:nvPr/>
        </p:nvSpPr>
        <p:spPr>
          <a:xfrm>
            <a:off x="640080" y="1874520"/>
            <a:ext cx="5367528" cy="1664208"/>
          </a:xfrm>
          <a:prstGeom prst="roundRect">
            <a:avLst>
              <a:gd name="adj" fmla="val 3297"/>
            </a:avLst>
          </a:prstGeom>
          <a:solidFill>
            <a:srgbClr val="E0E1CE"/>
          </a:solidFill>
          <a:ln w="12700">
            <a:solidFill>
              <a:srgbClr val="E0E1CE"/>
            </a:solidFill>
            <a:prstDash val="solid"/>
          </a:ln>
          <a:effectLst>
            <a:outerShdw sx="100000" sy="100000" kx="0" ky="0" algn="bl" rotWithShape="0" blurRad="76200" dist="12700" dir="5400000">
              <a:srgbClr val="000000">
                <a:alpha val="7000"/>
              </a:srgbClr>
            </a:outerShdw>
          </a:effectLst>
        </p:spPr>
      </p:sp>
      <p:sp>
        <p:nvSpPr>
          <p:cNvPr id="6" name="Shape 4"/>
          <p:cNvSpPr/>
          <p:nvPr/>
        </p:nvSpPr>
        <p:spPr>
          <a:xfrm>
            <a:off x="914400" y="2093976"/>
            <a:ext cx="457200" cy="457200"/>
          </a:xfrm>
          <a:prstGeom prst="ellipse">
            <a:avLst/>
          </a:prstGeom>
          <a:solidFill>
            <a:srgbClr val="B85042"/>
          </a:solidFill>
          <a:ln w="12700">
            <a:solidFill>
              <a:srgbClr val="B85042"/>
            </a:solidFill>
            <a:prstDash val="solid"/>
          </a:ln>
        </p:spPr>
      </p:sp>
      <p:sp>
        <p:nvSpPr>
          <p:cNvPr id="7" name="Text 5"/>
          <p:cNvSpPr/>
          <p:nvPr/>
        </p:nvSpPr>
        <p:spPr>
          <a:xfrm>
            <a:off x="914400" y="20939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499616" y="2057400"/>
            <a:ext cx="4297680" cy="530352"/>
          </a:xfrm>
          <a:prstGeom prst="rect">
            <a:avLst/>
          </a:prstGeom>
          <a:noFill/>
          <a:ln/>
        </p:spPr>
        <p:txBody>
          <a:bodyPr wrap="square" lIns="0" tIns="0" rIns="0" bIns="0" rtlCol="0" anchor="ctr"/>
          <a:lstStyle/>
          <a:p>
            <a:pPr indent="0" marL="0">
              <a:lnSpc>
                <a:spcPct val="102000"/>
              </a:lnSpc>
              <a:buNone/>
            </a:pPr>
            <a:r>
              <a:rPr lang="en-US" sz="1400" b="1" dirty="0">
                <a:solidFill>
                  <a:srgbClr val="2E241E"/>
                </a:solidFill>
                <a:latin typeface="Calibri" pitchFamily="34" charset="0"/>
                <a:ea typeface="Calibri" pitchFamily="34" charset="-122"/>
                <a:cs typeface="Calibri" pitchFamily="34" charset="-120"/>
              </a:rPr>
              <a:t>Attrition models do not transfer across national contexts</a:t>
            </a:r>
            <a:endParaRPr lang="en-US" sz="1400" dirty="0"/>
          </a:p>
        </p:txBody>
      </p:sp>
      <p:sp>
        <p:nvSpPr>
          <p:cNvPr id="9" name="Text 7"/>
          <p:cNvSpPr/>
          <p:nvPr/>
        </p:nvSpPr>
        <p:spPr>
          <a:xfrm>
            <a:off x="914400" y="2679192"/>
            <a:ext cx="4864608" cy="749808"/>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On shared demographic features: 0.937 local against 0.641 transfer, surviving leakage correction, estimator substitution and alternative binarisation.</a:t>
            </a:r>
            <a:endParaRPr lang="en-US" sz="1150" dirty="0"/>
          </a:p>
        </p:txBody>
      </p:sp>
      <p:sp>
        <p:nvSpPr>
          <p:cNvPr id="10" name="Shape 8"/>
          <p:cNvSpPr/>
          <p:nvPr/>
        </p:nvSpPr>
        <p:spPr>
          <a:xfrm>
            <a:off x="6281928" y="1874520"/>
            <a:ext cx="5367528" cy="1664208"/>
          </a:xfrm>
          <a:prstGeom prst="roundRect">
            <a:avLst>
              <a:gd name="adj" fmla="val 329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1" name="Shape 9"/>
          <p:cNvSpPr/>
          <p:nvPr/>
        </p:nvSpPr>
        <p:spPr>
          <a:xfrm>
            <a:off x="6556248" y="2093976"/>
            <a:ext cx="457200" cy="457200"/>
          </a:xfrm>
          <a:prstGeom prst="ellipse">
            <a:avLst/>
          </a:prstGeom>
          <a:solidFill>
            <a:srgbClr val="5F7F6C"/>
          </a:solidFill>
          <a:ln w="12700">
            <a:solidFill>
              <a:srgbClr val="5F7F6C"/>
            </a:solidFill>
            <a:prstDash val="solid"/>
          </a:ln>
        </p:spPr>
      </p:sp>
      <p:sp>
        <p:nvSpPr>
          <p:cNvPr id="12" name="Text 10"/>
          <p:cNvSpPr/>
          <p:nvPr/>
        </p:nvSpPr>
        <p:spPr>
          <a:xfrm>
            <a:off x="6556248" y="209397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7141464" y="2057400"/>
            <a:ext cx="4297680" cy="530352"/>
          </a:xfrm>
          <a:prstGeom prst="rect">
            <a:avLst/>
          </a:prstGeom>
          <a:noFill/>
          <a:ln/>
        </p:spPr>
        <p:txBody>
          <a:bodyPr wrap="square" lIns="0" tIns="0" rIns="0" bIns="0" rtlCol="0" anchor="ctr"/>
          <a:lstStyle/>
          <a:p>
            <a:pPr indent="0" marL="0">
              <a:lnSpc>
                <a:spcPct val="102000"/>
              </a:lnSpc>
              <a:buNone/>
            </a:pPr>
            <a:r>
              <a:rPr lang="en-US" sz="1400" b="1" dirty="0">
                <a:solidFill>
                  <a:srgbClr val="2E241E"/>
                </a:solidFill>
                <a:latin typeface="Calibri" pitchFamily="34" charset="0"/>
                <a:ea typeface="Calibri" pitchFamily="34" charset="-122"/>
                <a:cs typeface="Calibri" pitchFamily="34" charset="-120"/>
              </a:rPr>
              <a:t>A cost-viable serverless reference architecture</a:t>
            </a:r>
            <a:endParaRPr lang="en-US" sz="1400" dirty="0"/>
          </a:p>
        </p:txBody>
      </p:sp>
      <p:sp>
        <p:nvSpPr>
          <p:cNvPr id="14" name="Text 12"/>
          <p:cNvSpPr/>
          <p:nvPr/>
        </p:nvSpPr>
        <p:spPr>
          <a:xfrm>
            <a:off x="6556248" y="2679192"/>
            <a:ext cx="4864608" cy="749808"/>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Measured rather than estimated, with the finding that compute is not the cost — the always-on database is.</a:t>
            </a:r>
            <a:endParaRPr lang="en-US" sz="1150" dirty="0"/>
          </a:p>
        </p:txBody>
      </p:sp>
      <p:sp>
        <p:nvSpPr>
          <p:cNvPr id="15" name="Shape 13"/>
          <p:cNvSpPr/>
          <p:nvPr/>
        </p:nvSpPr>
        <p:spPr>
          <a:xfrm>
            <a:off x="640080" y="3749040"/>
            <a:ext cx="5367528" cy="1664208"/>
          </a:xfrm>
          <a:prstGeom prst="roundRect">
            <a:avLst>
              <a:gd name="adj" fmla="val 329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16" name="Shape 14"/>
          <p:cNvSpPr/>
          <p:nvPr/>
        </p:nvSpPr>
        <p:spPr>
          <a:xfrm>
            <a:off x="914400" y="3968496"/>
            <a:ext cx="457200" cy="457200"/>
          </a:xfrm>
          <a:prstGeom prst="ellipse">
            <a:avLst/>
          </a:prstGeom>
          <a:solidFill>
            <a:srgbClr val="5F7F6C"/>
          </a:solidFill>
          <a:ln w="12700">
            <a:solidFill>
              <a:srgbClr val="5F7F6C"/>
            </a:solidFill>
            <a:prstDash val="solid"/>
          </a:ln>
        </p:spPr>
      </p:sp>
      <p:sp>
        <p:nvSpPr>
          <p:cNvPr id="17" name="Text 15"/>
          <p:cNvSpPr/>
          <p:nvPr/>
        </p:nvSpPr>
        <p:spPr>
          <a:xfrm>
            <a:off x="914400" y="3968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499616" y="3931920"/>
            <a:ext cx="4297680" cy="530352"/>
          </a:xfrm>
          <a:prstGeom prst="rect">
            <a:avLst/>
          </a:prstGeom>
          <a:noFill/>
          <a:ln/>
        </p:spPr>
        <p:txBody>
          <a:bodyPr wrap="square" lIns="0" tIns="0" rIns="0" bIns="0" rtlCol="0" anchor="ctr"/>
          <a:lstStyle/>
          <a:p>
            <a:pPr indent="0" marL="0">
              <a:lnSpc>
                <a:spcPct val="102000"/>
              </a:lnSpc>
              <a:buNone/>
            </a:pPr>
            <a:r>
              <a:rPr lang="en-US" sz="1400" b="1" dirty="0">
                <a:solidFill>
                  <a:srgbClr val="2E241E"/>
                </a:solidFill>
                <a:latin typeface="Calibri" pitchFamily="34" charset="0"/>
                <a:ea typeface="Calibri" pitchFamily="34" charset="-122"/>
                <a:cs typeface="Calibri" pitchFamily="34" charset="-120"/>
              </a:rPr>
              <a:t>A working construct-capture mechanism</a:t>
            </a:r>
            <a:endParaRPr lang="en-US" sz="1400" dirty="0"/>
          </a:p>
        </p:txBody>
      </p:sp>
      <p:sp>
        <p:nvSpPr>
          <p:cNvPr id="19" name="Text 17"/>
          <p:cNvSpPr/>
          <p:nvPr/>
        </p:nvSpPr>
        <p:spPr>
          <a:xfrm>
            <a:off x="914400" y="4553712"/>
            <a:ext cx="4864608" cy="749808"/>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The Pulse Check produces the model’s own inputs inside the product, closing the gap between a model that scores well and one that can be operated.</a:t>
            </a:r>
            <a:endParaRPr lang="en-US" sz="1150" dirty="0"/>
          </a:p>
        </p:txBody>
      </p:sp>
      <p:sp>
        <p:nvSpPr>
          <p:cNvPr id="20" name="Shape 18"/>
          <p:cNvSpPr/>
          <p:nvPr/>
        </p:nvSpPr>
        <p:spPr>
          <a:xfrm>
            <a:off x="6281928" y="3749040"/>
            <a:ext cx="5367528" cy="1664208"/>
          </a:xfrm>
          <a:prstGeom prst="roundRect">
            <a:avLst>
              <a:gd name="adj" fmla="val 3297"/>
            </a:avLst>
          </a:prstGeom>
          <a:solidFill>
            <a:srgbClr val="EFEFE2"/>
          </a:solidFill>
          <a:ln w="12700">
            <a:solidFill>
              <a:srgbClr val="EFEFE2"/>
            </a:solidFill>
            <a:prstDash val="solid"/>
          </a:ln>
          <a:effectLst>
            <a:outerShdw sx="100000" sy="100000" kx="0" ky="0" algn="bl" rotWithShape="0" blurRad="76200" dist="12700" dir="5400000">
              <a:srgbClr val="000000">
                <a:alpha val="7000"/>
              </a:srgbClr>
            </a:outerShdw>
          </a:effectLst>
        </p:spPr>
      </p:sp>
      <p:sp>
        <p:nvSpPr>
          <p:cNvPr id="21" name="Shape 19"/>
          <p:cNvSpPr/>
          <p:nvPr/>
        </p:nvSpPr>
        <p:spPr>
          <a:xfrm>
            <a:off x="6556248" y="3968496"/>
            <a:ext cx="457200" cy="457200"/>
          </a:xfrm>
          <a:prstGeom prst="ellipse">
            <a:avLst/>
          </a:prstGeom>
          <a:solidFill>
            <a:srgbClr val="5F7F6C"/>
          </a:solidFill>
          <a:ln w="12700">
            <a:solidFill>
              <a:srgbClr val="5F7F6C"/>
            </a:solidFill>
            <a:prstDash val="solid"/>
          </a:ln>
        </p:spPr>
      </p:sp>
      <p:sp>
        <p:nvSpPr>
          <p:cNvPr id="22" name="Text 20"/>
          <p:cNvSpPr/>
          <p:nvPr/>
        </p:nvSpPr>
        <p:spPr>
          <a:xfrm>
            <a:off x="6556248" y="3968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7141464" y="3931920"/>
            <a:ext cx="4297680" cy="530352"/>
          </a:xfrm>
          <a:prstGeom prst="rect">
            <a:avLst/>
          </a:prstGeom>
          <a:noFill/>
          <a:ln/>
        </p:spPr>
        <p:txBody>
          <a:bodyPr wrap="square" lIns="0" tIns="0" rIns="0" bIns="0" rtlCol="0" anchor="ctr"/>
          <a:lstStyle/>
          <a:p>
            <a:pPr indent="0" marL="0">
              <a:lnSpc>
                <a:spcPct val="102000"/>
              </a:lnSpc>
              <a:buNone/>
            </a:pPr>
            <a:r>
              <a:rPr lang="en-US" sz="1400" b="1" dirty="0">
                <a:solidFill>
                  <a:srgbClr val="2E241E"/>
                </a:solidFill>
                <a:latin typeface="Calibri" pitchFamily="34" charset="0"/>
                <a:ea typeface="Calibri" pitchFamily="34" charset="-122"/>
                <a:cs typeface="Calibri" pitchFamily="34" charset="-120"/>
              </a:rPr>
              <a:t>Negative and infeasible results reported, not suppressed</a:t>
            </a:r>
            <a:endParaRPr lang="en-US" sz="1400" dirty="0"/>
          </a:p>
        </p:txBody>
      </p:sp>
      <p:sp>
        <p:nvSpPr>
          <p:cNvPr id="24" name="Text 22"/>
          <p:cNvSpPr/>
          <p:nvPr/>
        </p:nvSpPr>
        <p:spPr>
          <a:xfrm>
            <a:off x="6556248" y="4553712"/>
            <a:ext cx="4864608" cy="749808"/>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The transfer failure, the immaterial weighting scheme, and the structural impossibility of fairness validation on this sample.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16</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Demonstration</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Live on the deployed development environment</a:t>
            </a:r>
            <a:endParaRPr lang="en-US" sz="1400" dirty="0"/>
          </a:p>
        </p:txBody>
      </p:sp>
      <p:sp>
        <p:nvSpPr>
          <p:cNvPr id="5" name="Shape 3"/>
          <p:cNvSpPr/>
          <p:nvPr/>
        </p:nvSpPr>
        <p:spPr>
          <a:xfrm>
            <a:off x="640080" y="1847088"/>
            <a:ext cx="438912" cy="438912"/>
          </a:xfrm>
          <a:prstGeom prst="ellipse">
            <a:avLst/>
          </a:prstGeom>
          <a:solidFill>
            <a:srgbClr val="5F7F6C"/>
          </a:solidFill>
          <a:ln w="12700">
            <a:solidFill>
              <a:srgbClr val="5F7F6C"/>
            </a:solidFill>
            <a:prstDash val="solid"/>
          </a:ln>
        </p:spPr>
      </p:sp>
      <p:sp>
        <p:nvSpPr>
          <p:cNvPr id="6" name="Text 4"/>
          <p:cNvSpPr/>
          <p:nvPr/>
        </p:nvSpPr>
        <p:spPr>
          <a:xfrm>
            <a:off x="640080" y="184708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828800"/>
            <a:ext cx="3246120" cy="475488"/>
          </a:xfrm>
          <a:prstGeom prst="rect">
            <a:avLst/>
          </a:prstGeom>
          <a:noFill/>
          <a:ln/>
        </p:spPr>
        <p:txBody>
          <a:bodyPr wrap="square" lIns="0" tIns="0" rIns="0" bIns="0" rtlCol="0" anchor="t"/>
          <a:lstStyle/>
          <a:p>
            <a:pPr indent="0" marL="0">
              <a:lnSpc>
                <a:spcPct val="102000"/>
              </a:lnSpc>
              <a:buNone/>
            </a:pPr>
            <a:r>
              <a:rPr lang="en-US" sz="1450" b="1" dirty="0">
                <a:solidFill>
                  <a:srgbClr val="2E241E"/>
                </a:solidFill>
                <a:latin typeface="Calibri" pitchFamily="34" charset="0"/>
                <a:ea typeface="Calibri" pitchFamily="34" charset="-122"/>
                <a:cs typeface="Calibri" pitchFamily="34" charset="-120"/>
              </a:rPr>
              <a:t>Sign in and open an employee</a:t>
            </a:r>
            <a:endParaRPr lang="en-US" sz="1450" dirty="0"/>
          </a:p>
        </p:txBody>
      </p:sp>
      <p:sp>
        <p:nvSpPr>
          <p:cNvPr id="8" name="Text 6"/>
          <p:cNvSpPr/>
          <p:nvPr/>
        </p:nvSpPr>
        <p:spPr>
          <a:xfrm>
            <a:off x="4114800" y="1847088"/>
            <a:ext cx="7434072" cy="713232"/>
          </a:xfrm>
          <a:prstGeom prst="rect">
            <a:avLst/>
          </a:prstGeom>
          <a:noFill/>
          <a:ln/>
        </p:spPr>
        <p:txBody>
          <a:bodyPr wrap="square" lIns="0" tIns="0" rIns="0" bIns="0" rtlCol="0" anchor="t"/>
          <a:lstStyle/>
          <a:p>
            <a:pPr indent="0" marL="0">
              <a:lnSpc>
                <a:spcPct val="106000"/>
              </a:lnSpc>
              <a:buNone/>
            </a:pPr>
            <a:r>
              <a:rPr lang="en-US" sz="1200" dirty="0">
                <a:solidFill>
                  <a:srgbClr val="7A7167"/>
                </a:solidFill>
                <a:latin typeface="Calibri" pitchFamily="34" charset="0"/>
                <a:ea typeface="Calibri" pitchFamily="34" charset="-122"/>
                <a:cs typeface="Calibri" pitchFamily="34" charset="-120"/>
              </a:rPr>
              <a:t>The HR platform — payroll, leave and attendance — is the system of record the predictions attach to.</a:t>
            </a:r>
            <a:endParaRPr lang="en-US" sz="1200" dirty="0"/>
          </a:p>
        </p:txBody>
      </p:sp>
      <p:sp>
        <p:nvSpPr>
          <p:cNvPr id="9" name="Shape 7"/>
          <p:cNvSpPr/>
          <p:nvPr/>
        </p:nvSpPr>
        <p:spPr>
          <a:xfrm>
            <a:off x="640080" y="2743200"/>
            <a:ext cx="438912" cy="438912"/>
          </a:xfrm>
          <a:prstGeom prst="ellipse">
            <a:avLst/>
          </a:prstGeom>
          <a:solidFill>
            <a:srgbClr val="5F7F6C"/>
          </a:solidFill>
          <a:ln w="12700">
            <a:solidFill>
              <a:srgbClr val="5F7F6C"/>
            </a:solidFill>
            <a:prstDash val="solid"/>
          </a:ln>
        </p:spPr>
      </p:sp>
      <p:sp>
        <p:nvSpPr>
          <p:cNvPr id="10" name="Text 8"/>
          <p:cNvSpPr/>
          <p:nvPr/>
        </p:nvSpPr>
        <p:spPr>
          <a:xfrm>
            <a:off x="640080" y="274320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1280160" y="2724912"/>
            <a:ext cx="3246120" cy="475488"/>
          </a:xfrm>
          <a:prstGeom prst="rect">
            <a:avLst/>
          </a:prstGeom>
          <a:noFill/>
          <a:ln/>
        </p:spPr>
        <p:txBody>
          <a:bodyPr wrap="square" lIns="0" tIns="0" rIns="0" bIns="0" rtlCol="0" anchor="t"/>
          <a:lstStyle/>
          <a:p>
            <a:pPr indent="0" marL="0">
              <a:lnSpc>
                <a:spcPct val="102000"/>
              </a:lnSpc>
              <a:buNone/>
            </a:pPr>
            <a:r>
              <a:rPr lang="en-US" sz="1450" b="1" dirty="0">
                <a:solidFill>
                  <a:srgbClr val="2E241E"/>
                </a:solidFill>
                <a:latin typeface="Calibri" pitchFamily="34" charset="0"/>
                <a:ea typeface="Calibri" pitchFamily="34" charset="-122"/>
                <a:cs typeface="Calibri" pitchFamily="34" charset="-120"/>
              </a:rPr>
              <a:t>Score attrition risk</a:t>
            </a:r>
            <a:endParaRPr lang="en-US" sz="1450" dirty="0"/>
          </a:p>
        </p:txBody>
      </p:sp>
      <p:sp>
        <p:nvSpPr>
          <p:cNvPr id="12" name="Text 10"/>
          <p:cNvSpPr/>
          <p:nvPr/>
        </p:nvSpPr>
        <p:spPr>
          <a:xfrm>
            <a:off x="4114800" y="2743200"/>
            <a:ext cx="7434072" cy="713232"/>
          </a:xfrm>
          <a:prstGeom prst="rect">
            <a:avLst/>
          </a:prstGeom>
          <a:noFill/>
          <a:ln/>
        </p:spPr>
        <p:txBody>
          <a:bodyPr wrap="square" lIns="0" tIns="0" rIns="0" bIns="0" rtlCol="0" anchor="t"/>
          <a:lstStyle/>
          <a:p>
            <a:pPr indent="0" marL="0">
              <a:lnSpc>
                <a:spcPct val="106000"/>
              </a:lnSpc>
              <a:buNone/>
            </a:pPr>
            <a:r>
              <a:rPr lang="en-US" sz="1200" dirty="0">
                <a:solidFill>
                  <a:srgbClr val="7A7167"/>
                </a:solidFill>
                <a:latin typeface="Calibri" pitchFamily="34" charset="0"/>
                <a:ea typeface="Calibri" pitchFamily="34" charset="-122"/>
                <a:cs typeface="Calibri" pitchFamily="34" charset="-120"/>
              </a:rPr>
              <a:t>Eight constructs produce a probability, a band, the disclosed threshold, and the SHAP factors behind that specific prediction.</a:t>
            </a:r>
            <a:endParaRPr lang="en-US" sz="1200" dirty="0"/>
          </a:p>
        </p:txBody>
      </p:sp>
      <p:sp>
        <p:nvSpPr>
          <p:cNvPr id="13" name="Shape 11"/>
          <p:cNvSpPr/>
          <p:nvPr/>
        </p:nvSpPr>
        <p:spPr>
          <a:xfrm>
            <a:off x="640080" y="3639312"/>
            <a:ext cx="438912" cy="438912"/>
          </a:xfrm>
          <a:prstGeom prst="ellipse">
            <a:avLst/>
          </a:prstGeom>
          <a:solidFill>
            <a:srgbClr val="5F7F6C"/>
          </a:solidFill>
          <a:ln w="12700">
            <a:solidFill>
              <a:srgbClr val="5F7F6C"/>
            </a:solidFill>
            <a:prstDash val="solid"/>
          </a:ln>
        </p:spPr>
      </p:sp>
      <p:sp>
        <p:nvSpPr>
          <p:cNvPr id="14" name="Text 12"/>
          <p:cNvSpPr/>
          <p:nvPr/>
        </p:nvSpPr>
        <p:spPr>
          <a:xfrm>
            <a:off x="640080" y="363931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280160" y="3621024"/>
            <a:ext cx="3246120" cy="475488"/>
          </a:xfrm>
          <a:prstGeom prst="rect">
            <a:avLst/>
          </a:prstGeom>
          <a:noFill/>
          <a:ln/>
        </p:spPr>
        <p:txBody>
          <a:bodyPr wrap="square" lIns="0" tIns="0" rIns="0" bIns="0" rtlCol="0" anchor="t"/>
          <a:lstStyle/>
          <a:p>
            <a:pPr indent="0" marL="0">
              <a:lnSpc>
                <a:spcPct val="102000"/>
              </a:lnSpc>
              <a:buNone/>
            </a:pPr>
            <a:r>
              <a:rPr lang="en-US" sz="1450" b="1" dirty="0">
                <a:solidFill>
                  <a:srgbClr val="2E241E"/>
                </a:solidFill>
                <a:latin typeface="Calibri" pitchFamily="34" charset="0"/>
                <a:ea typeface="Calibri" pitchFamily="34" charset="-122"/>
                <a:cs typeface="Calibri" pitchFamily="34" charset="-120"/>
              </a:rPr>
              <a:t>Submit a Pulse Check</a:t>
            </a:r>
            <a:endParaRPr lang="en-US" sz="1450" dirty="0"/>
          </a:p>
        </p:txBody>
      </p:sp>
      <p:sp>
        <p:nvSpPr>
          <p:cNvPr id="16" name="Text 14"/>
          <p:cNvSpPr/>
          <p:nvPr/>
        </p:nvSpPr>
        <p:spPr>
          <a:xfrm>
            <a:off x="4114800" y="3639312"/>
            <a:ext cx="7434072" cy="713232"/>
          </a:xfrm>
          <a:prstGeom prst="rect">
            <a:avLst/>
          </a:prstGeom>
          <a:noFill/>
          <a:ln/>
        </p:spPr>
        <p:txBody>
          <a:bodyPr wrap="square" lIns="0" tIns="0" rIns="0" bIns="0" rtlCol="0" anchor="t"/>
          <a:lstStyle/>
          <a:p>
            <a:pPr indent="0" marL="0">
              <a:lnSpc>
                <a:spcPct val="106000"/>
              </a:lnSpc>
              <a:buNone/>
            </a:pPr>
            <a:r>
              <a:rPr lang="en-US" sz="1200" dirty="0">
                <a:solidFill>
                  <a:srgbClr val="7A7167"/>
                </a:solidFill>
                <a:latin typeface="Calibri" pitchFamily="34" charset="0"/>
                <a:ea typeface="Calibri" pitchFamily="34" charset="-122"/>
                <a:cs typeface="Calibri" pitchFamily="34" charset="-120"/>
              </a:rPr>
              <a:t>Sixteen Likert items become the eight constructs automatically, and the prediction is cached per employee per week.</a:t>
            </a:r>
            <a:endParaRPr lang="en-US" sz="1200" dirty="0"/>
          </a:p>
        </p:txBody>
      </p:sp>
      <p:sp>
        <p:nvSpPr>
          <p:cNvPr id="17" name="Shape 15"/>
          <p:cNvSpPr/>
          <p:nvPr/>
        </p:nvSpPr>
        <p:spPr>
          <a:xfrm>
            <a:off x="640080" y="4535424"/>
            <a:ext cx="438912" cy="438912"/>
          </a:xfrm>
          <a:prstGeom prst="ellipse">
            <a:avLst/>
          </a:prstGeom>
          <a:solidFill>
            <a:srgbClr val="5F7F6C"/>
          </a:solidFill>
          <a:ln w="12700">
            <a:solidFill>
              <a:srgbClr val="5F7F6C"/>
            </a:solidFill>
            <a:prstDash val="solid"/>
          </a:ln>
        </p:spPr>
      </p:sp>
      <p:sp>
        <p:nvSpPr>
          <p:cNvPr id="18" name="Text 16"/>
          <p:cNvSpPr/>
          <p:nvPr/>
        </p:nvSpPr>
        <p:spPr>
          <a:xfrm>
            <a:off x="640080" y="4535424"/>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1280160" y="4517136"/>
            <a:ext cx="3246120" cy="475488"/>
          </a:xfrm>
          <a:prstGeom prst="rect">
            <a:avLst/>
          </a:prstGeom>
          <a:noFill/>
          <a:ln/>
        </p:spPr>
        <p:txBody>
          <a:bodyPr wrap="square" lIns="0" tIns="0" rIns="0" bIns="0" rtlCol="0" anchor="t"/>
          <a:lstStyle/>
          <a:p>
            <a:pPr indent="0" marL="0">
              <a:lnSpc>
                <a:spcPct val="102000"/>
              </a:lnSpc>
              <a:buNone/>
            </a:pPr>
            <a:r>
              <a:rPr lang="en-US" sz="1450" b="1" dirty="0">
                <a:solidFill>
                  <a:srgbClr val="2E241E"/>
                </a:solidFill>
                <a:latin typeface="Calibri" pitchFamily="34" charset="0"/>
                <a:ea typeface="Calibri" pitchFamily="34" charset="-122"/>
                <a:cs typeface="Calibri" pitchFamily="34" charset="-120"/>
              </a:rPr>
              <a:t>Confirm the privacy boundary</a:t>
            </a:r>
            <a:endParaRPr lang="en-US" sz="1450" dirty="0"/>
          </a:p>
        </p:txBody>
      </p:sp>
      <p:sp>
        <p:nvSpPr>
          <p:cNvPr id="20" name="Text 18"/>
          <p:cNvSpPr/>
          <p:nvPr/>
        </p:nvSpPr>
        <p:spPr>
          <a:xfrm>
            <a:off x="4114800" y="4535424"/>
            <a:ext cx="7434072" cy="713232"/>
          </a:xfrm>
          <a:prstGeom prst="rect">
            <a:avLst/>
          </a:prstGeom>
          <a:noFill/>
          <a:ln/>
        </p:spPr>
        <p:txBody>
          <a:bodyPr wrap="square" lIns="0" tIns="0" rIns="0" bIns="0" rtlCol="0" anchor="t"/>
          <a:lstStyle/>
          <a:p>
            <a:pPr indent="0" marL="0">
              <a:lnSpc>
                <a:spcPct val="106000"/>
              </a:lnSpc>
              <a:buNone/>
            </a:pPr>
            <a:r>
              <a:rPr lang="en-US" sz="1200" dirty="0">
                <a:solidFill>
                  <a:srgbClr val="7A7167"/>
                </a:solidFill>
                <a:latin typeface="Calibri" pitchFamily="34" charset="0"/>
                <a:ea typeface="Calibri" pitchFamily="34" charset="-122"/>
                <a:cs typeface="Calibri" pitchFamily="34" charset="-120"/>
              </a:rPr>
              <a:t>The employee sees a confirmation and never a risk score. That is verified, not asserted.</a:t>
            </a:r>
            <a:endParaRPr lang="en-US" sz="1200" dirty="0"/>
          </a:p>
        </p:txBody>
      </p:sp>
      <p:sp>
        <p:nvSpPr>
          <p:cNvPr id="21" name="Shape 19"/>
          <p:cNvSpPr/>
          <p:nvPr/>
        </p:nvSpPr>
        <p:spPr>
          <a:xfrm>
            <a:off x="640080" y="5468112"/>
            <a:ext cx="10911535" cy="804672"/>
          </a:xfrm>
          <a:prstGeom prst="roundRect">
            <a:avLst>
              <a:gd name="adj" fmla="val 6818"/>
            </a:avLst>
          </a:prstGeom>
          <a:solidFill>
            <a:srgbClr val="E0E1CE"/>
          </a:solidFill>
          <a:ln w="12700">
            <a:solidFill>
              <a:srgbClr val="E0E1CE"/>
            </a:solidFill>
            <a:prstDash val="solid"/>
          </a:ln>
        </p:spPr>
      </p:sp>
      <p:sp>
        <p:nvSpPr>
          <p:cNvPr id="22" name="Text 20"/>
          <p:cNvSpPr/>
          <p:nvPr/>
        </p:nvSpPr>
        <p:spPr>
          <a:xfrm>
            <a:off x="960120" y="5541264"/>
            <a:ext cx="10271455" cy="658368"/>
          </a:xfrm>
          <a:prstGeom prst="rect">
            <a:avLst/>
          </a:prstGeom>
          <a:noFill/>
          <a:ln/>
        </p:spPr>
        <p:txBody>
          <a:bodyPr wrap="square" lIns="0" tIns="0" rIns="0" bIns="0" rtlCol="0" anchor="ctr"/>
          <a:lstStyle/>
          <a:p>
            <a:pPr indent="0" marL="0">
              <a:lnSpc>
                <a:spcPct val="105000"/>
              </a:lnSpc>
              <a:buNone/>
            </a:pPr>
            <a:r>
              <a:rPr lang="en-US" sz="1150" i="1" dirty="0">
                <a:solidFill>
                  <a:srgbClr val="3A322C"/>
                </a:solidFill>
                <a:latin typeface="Calibri" pitchFamily="34" charset="0"/>
                <a:ea typeface="Calibri" pitchFamily="34" charset="-122"/>
                <a:cs typeface="Calibri" pitchFamily="34" charset="-120"/>
              </a:rPr>
              <a:t>If the first prediction takes about twenty seconds, that is the scale-to-zero decision made visible — the instance is cold. Warm responses run in half a second to one second. Keeping an instance always warm would break the cost result on the previous slide.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277295" y="6382512"/>
            <a:ext cx="365760" cy="256032"/>
          </a:xfrm>
          <a:prstGeom prst="rect">
            <a:avLst/>
          </a:prstGeom>
          <a:noFill/>
          <a:ln/>
        </p:spPr>
        <p:txBody>
          <a:bodyPr wrap="square" lIns="0" tIns="0" rIns="0" bIns="0" rtlCol="0" anchor="ctr"/>
          <a:lstStyle/>
          <a:p>
            <a:pPr algn="r" indent="0" marL="0">
              <a:buNone/>
            </a:pPr>
            <a:r>
              <a:rPr lang="en-US" sz="1000" dirty="0">
                <a:solidFill>
                  <a:srgbClr val="7A7167"/>
                </a:solidFill>
                <a:latin typeface="Calibri" pitchFamily="34" charset="0"/>
                <a:ea typeface="Calibri" pitchFamily="34" charset="-122"/>
                <a:cs typeface="Calibri" pitchFamily="34" charset="-120"/>
              </a:rPr>
              <a:t>17</a:t>
            </a:r>
            <a:endParaRPr lang="en-US" sz="1000" dirty="0"/>
          </a:p>
        </p:txBody>
      </p:sp>
      <p:sp>
        <p:nvSpPr>
          <p:cNvPr id="3" name="Text 1"/>
          <p:cNvSpPr/>
          <p:nvPr/>
        </p:nvSpPr>
        <p:spPr>
          <a:xfrm>
            <a:off x="640080" y="384048"/>
            <a:ext cx="10911535" cy="731520"/>
          </a:xfrm>
          <a:prstGeom prst="rect">
            <a:avLst/>
          </a:prstGeom>
          <a:noFill/>
          <a:ln/>
        </p:spPr>
        <p:txBody>
          <a:bodyPr wrap="square" lIns="0" tIns="0" rIns="0" bIns="0" rtlCol="0" anchor="ctr"/>
          <a:lstStyle/>
          <a:p>
            <a:pPr indent="0" marL="0">
              <a:buNone/>
            </a:pPr>
            <a:r>
              <a:rPr lang="en-US" sz="3000" b="1" dirty="0">
                <a:solidFill>
                  <a:srgbClr val="2E241E"/>
                </a:solidFill>
                <a:latin typeface="Cambria" pitchFamily="34" charset="0"/>
                <a:ea typeface="Cambria" pitchFamily="34" charset="-122"/>
                <a:cs typeface="Cambria" pitchFamily="34" charset="-120"/>
              </a:rPr>
              <a:t>Future work</a:t>
            </a:r>
            <a:endParaRPr lang="en-US" sz="3000" dirty="0"/>
          </a:p>
        </p:txBody>
      </p:sp>
      <p:sp>
        <p:nvSpPr>
          <p:cNvPr id="4" name="Text 2"/>
          <p:cNvSpPr/>
          <p:nvPr/>
        </p:nvSpPr>
        <p:spPr>
          <a:xfrm>
            <a:off x="640080" y="1115568"/>
            <a:ext cx="10911535" cy="347472"/>
          </a:xfrm>
          <a:prstGeom prst="rect">
            <a:avLst/>
          </a:prstGeom>
          <a:noFill/>
          <a:ln/>
        </p:spPr>
        <p:txBody>
          <a:bodyPr wrap="square" lIns="0" tIns="0" rIns="0" bIns="0" rtlCol="0" anchor="t"/>
          <a:lstStyle/>
          <a:p>
            <a:pPr indent="0" marL="0">
              <a:buNone/>
            </a:pPr>
            <a:r>
              <a:rPr lang="en-US" sz="1400" i="1" dirty="0">
                <a:solidFill>
                  <a:srgbClr val="7A7167"/>
                </a:solidFill>
                <a:latin typeface="Calibri" pitchFamily="34" charset="0"/>
                <a:ea typeface="Calibri" pitchFamily="34" charset="-122"/>
                <a:cs typeface="Calibri" pitchFamily="34" charset="-120"/>
              </a:rPr>
              <a:t>Ordered by how much each would change the conclusions</a:t>
            </a:r>
            <a:endParaRPr lang="en-US" sz="1400" dirty="0"/>
          </a:p>
        </p:txBody>
      </p:sp>
      <p:sp>
        <p:nvSpPr>
          <p:cNvPr id="5" name="Shape 3"/>
          <p:cNvSpPr/>
          <p:nvPr/>
        </p:nvSpPr>
        <p:spPr>
          <a:xfrm>
            <a:off x="640080" y="1847088"/>
            <a:ext cx="402336" cy="402336"/>
          </a:xfrm>
          <a:prstGeom prst="ellipse">
            <a:avLst/>
          </a:prstGeom>
          <a:solidFill>
            <a:srgbClr val="B85042"/>
          </a:solidFill>
          <a:ln w="12700">
            <a:solidFill>
              <a:srgbClr val="B85042"/>
            </a:solidFill>
            <a:prstDash val="solid"/>
          </a:ln>
        </p:spPr>
      </p:sp>
      <p:sp>
        <p:nvSpPr>
          <p:cNvPr id="6" name="Text 4"/>
          <p:cNvSpPr/>
          <p:nvPr/>
        </p:nvSpPr>
        <p:spPr>
          <a:xfrm>
            <a:off x="640080" y="184708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1225296" y="1828800"/>
            <a:ext cx="4617720" cy="457200"/>
          </a:xfrm>
          <a:prstGeom prst="rect">
            <a:avLst/>
          </a:prstGeom>
          <a:noFill/>
          <a:ln/>
        </p:spPr>
        <p:txBody>
          <a:bodyPr wrap="square" lIns="0" tIns="0" rIns="0" bIns="0" rtlCol="0" anchor="t"/>
          <a:lstStyle/>
          <a:p>
            <a:pPr indent="0" marL="0">
              <a:lnSpc>
                <a:spcPct val="100000"/>
              </a:lnSpc>
              <a:buNone/>
            </a:pPr>
            <a:r>
              <a:rPr lang="en-US" sz="1350" b="1" dirty="0">
                <a:solidFill>
                  <a:srgbClr val="2E241E"/>
                </a:solidFill>
                <a:latin typeface="Calibri" pitchFamily="34" charset="0"/>
                <a:ea typeface="Calibri" pitchFamily="34" charset="-122"/>
                <a:cs typeface="Calibri" pitchFamily="34" charset="-120"/>
              </a:rPr>
              <a:t>Obtain observed attrition data from a partner SME</a:t>
            </a:r>
            <a:endParaRPr lang="en-US" sz="1350" dirty="0"/>
          </a:p>
        </p:txBody>
      </p:sp>
      <p:sp>
        <p:nvSpPr>
          <p:cNvPr id="8" name="Text 6"/>
          <p:cNvSpPr/>
          <p:nvPr/>
        </p:nvSpPr>
        <p:spPr>
          <a:xfrm>
            <a:off x="5532120" y="1847088"/>
            <a:ext cx="6016752" cy="713232"/>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The single highest-value next step. It would dissolve the label-shift confound and let the local model be judged against departures rather than intentions.</a:t>
            </a:r>
            <a:endParaRPr lang="en-US" sz="1150" dirty="0"/>
          </a:p>
        </p:txBody>
      </p:sp>
      <p:sp>
        <p:nvSpPr>
          <p:cNvPr id="9" name="Shape 7"/>
          <p:cNvSpPr/>
          <p:nvPr/>
        </p:nvSpPr>
        <p:spPr>
          <a:xfrm>
            <a:off x="640080" y="2724912"/>
            <a:ext cx="402336" cy="402336"/>
          </a:xfrm>
          <a:prstGeom prst="ellipse">
            <a:avLst/>
          </a:prstGeom>
          <a:solidFill>
            <a:srgbClr val="5F7F6C"/>
          </a:solidFill>
          <a:ln w="12700">
            <a:solidFill>
              <a:srgbClr val="5F7F6C"/>
            </a:solidFill>
            <a:prstDash val="solid"/>
          </a:ln>
        </p:spPr>
      </p:sp>
      <p:sp>
        <p:nvSpPr>
          <p:cNvPr id="10" name="Text 8"/>
          <p:cNvSpPr/>
          <p:nvPr/>
        </p:nvSpPr>
        <p:spPr>
          <a:xfrm>
            <a:off x="640080" y="272491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225296" y="2706624"/>
            <a:ext cx="4617720" cy="457200"/>
          </a:xfrm>
          <a:prstGeom prst="rect">
            <a:avLst/>
          </a:prstGeom>
          <a:noFill/>
          <a:ln/>
        </p:spPr>
        <p:txBody>
          <a:bodyPr wrap="square" lIns="0" tIns="0" rIns="0" bIns="0" rtlCol="0" anchor="t"/>
          <a:lstStyle/>
          <a:p>
            <a:pPr indent="0" marL="0">
              <a:lnSpc>
                <a:spcPct val="100000"/>
              </a:lnSpc>
              <a:buNone/>
            </a:pPr>
            <a:r>
              <a:rPr lang="en-US" sz="1350" b="1" dirty="0">
                <a:solidFill>
                  <a:srgbClr val="2E241E"/>
                </a:solidFill>
                <a:latin typeface="Calibri" pitchFamily="34" charset="0"/>
                <a:ea typeface="Calibri" pitchFamily="34" charset="-122"/>
                <a:cs typeface="Calibri" pitchFamily="34" charset="-120"/>
              </a:rPr>
              <a:t>Build the workforce risk view and an onboarding path</a:t>
            </a:r>
            <a:endParaRPr lang="en-US" sz="1350" dirty="0"/>
          </a:p>
        </p:txBody>
      </p:sp>
      <p:sp>
        <p:nvSpPr>
          <p:cNvPr id="12" name="Text 10"/>
          <p:cNvSpPr/>
          <p:nvPr/>
        </p:nvSpPr>
        <p:spPr>
          <a:xfrm>
            <a:off x="5532120" y="2724912"/>
            <a:ext cx="6016752" cy="713232"/>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Both are additions rather than corrections, and the adoption literature says they matter more than accuracy does.</a:t>
            </a:r>
            <a:endParaRPr lang="en-US" sz="1150" dirty="0"/>
          </a:p>
        </p:txBody>
      </p:sp>
      <p:sp>
        <p:nvSpPr>
          <p:cNvPr id="13" name="Shape 11"/>
          <p:cNvSpPr/>
          <p:nvPr/>
        </p:nvSpPr>
        <p:spPr>
          <a:xfrm>
            <a:off x="640080" y="3602736"/>
            <a:ext cx="402336" cy="402336"/>
          </a:xfrm>
          <a:prstGeom prst="ellipse">
            <a:avLst/>
          </a:prstGeom>
          <a:solidFill>
            <a:srgbClr val="5F7F6C"/>
          </a:solidFill>
          <a:ln w="12700">
            <a:solidFill>
              <a:srgbClr val="5F7F6C"/>
            </a:solidFill>
            <a:prstDash val="solid"/>
          </a:ln>
        </p:spPr>
      </p:sp>
      <p:sp>
        <p:nvSpPr>
          <p:cNvPr id="14" name="Text 12"/>
          <p:cNvSpPr/>
          <p:nvPr/>
        </p:nvSpPr>
        <p:spPr>
          <a:xfrm>
            <a:off x="640080" y="36027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225296" y="3584448"/>
            <a:ext cx="4617720" cy="457200"/>
          </a:xfrm>
          <a:prstGeom prst="rect">
            <a:avLst/>
          </a:prstGeom>
          <a:noFill/>
          <a:ln/>
        </p:spPr>
        <p:txBody>
          <a:bodyPr wrap="square" lIns="0" tIns="0" rIns="0" bIns="0" rtlCol="0" anchor="t"/>
          <a:lstStyle/>
          <a:p>
            <a:pPr indent="0" marL="0">
              <a:lnSpc>
                <a:spcPct val="100000"/>
              </a:lnSpc>
              <a:buNone/>
            </a:pPr>
            <a:r>
              <a:rPr lang="en-US" sz="1350" b="1" dirty="0">
                <a:solidFill>
                  <a:srgbClr val="2E241E"/>
                </a:solidFill>
                <a:latin typeface="Calibri" pitchFamily="34" charset="0"/>
                <a:ea typeface="Calibri" pitchFamily="34" charset="-122"/>
                <a:cs typeface="Calibri" pitchFamily="34" charset="-120"/>
              </a:rPr>
              <a:t>Run the usability study</a:t>
            </a:r>
            <a:endParaRPr lang="en-US" sz="1350" dirty="0"/>
          </a:p>
        </p:txBody>
      </p:sp>
      <p:sp>
        <p:nvSpPr>
          <p:cNvPr id="16" name="Text 14"/>
          <p:cNvSpPr/>
          <p:nvPr/>
        </p:nvSpPr>
        <p:spPr>
          <a:xfrm>
            <a:off x="5532120" y="3602736"/>
            <a:ext cx="6016752" cy="713232"/>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The protocol is fully specified in §5.10 and directly executable with independent evaluators. It would close the one objective this work leaves open.</a:t>
            </a:r>
            <a:endParaRPr lang="en-US" sz="1150" dirty="0"/>
          </a:p>
        </p:txBody>
      </p:sp>
      <p:sp>
        <p:nvSpPr>
          <p:cNvPr id="17" name="Shape 15"/>
          <p:cNvSpPr/>
          <p:nvPr/>
        </p:nvSpPr>
        <p:spPr>
          <a:xfrm>
            <a:off x="640080" y="4480560"/>
            <a:ext cx="402336" cy="402336"/>
          </a:xfrm>
          <a:prstGeom prst="ellipse">
            <a:avLst/>
          </a:prstGeom>
          <a:solidFill>
            <a:srgbClr val="5F7F6C"/>
          </a:solidFill>
          <a:ln w="12700">
            <a:solidFill>
              <a:srgbClr val="5F7F6C"/>
            </a:solidFill>
            <a:prstDash val="solid"/>
          </a:ln>
        </p:spPr>
      </p:sp>
      <p:sp>
        <p:nvSpPr>
          <p:cNvPr id="18" name="Text 16"/>
          <p:cNvSpPr/>
          <p:nvPr/>
        </p:nvSpPr>
        <p:spPr>
          <a:xfrm>
            <a:off x="640080" y="448056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225296" y="4462272"/>
            <a:ext cx="4617720" cy="457200"/>
          </a:xfrm>
          <a:prstGeom prst="rect">
            <a:avLst/>
          </a:prstGeom>
          <a:noFill/>
          <a:ln/>
        </p:spPr>
        <p:txBody>
          <a:bodyPr wrap="square" lIns="0" tIns="0" rIns="0" bIns="0" rtlCol="0" anchor="t"/>
          <a:lstStyle/>
          <a:p>
            <a:pPr indent="0" marL="0">
              <a:lnSpc>
                <a:spcPct val="100000"/>
              </a:lnSpc>
              <a:buNone/>
            </a:pPr>
            <a:r>
              <a:rPr lang="en-US" sz="1350" b="1" dirty="0">
                <a:solidFill>
                  <a:srgbClr val="2E241E"/>
                </a:solidFill>
                <a:latin typeface="Calibri" pitchFamily="34" charset="0"/>
                <a:ea typeface="Calibri" pitchFamily="34" charset="-122"/>
                <a:cs typeface="Calibri" pitchFamily="34" charset="-120"/>
              </a:rPr>
              <a:t>Validate fairness on an adequate sample</a:t>
            </a:r>
            <a:endParaRPr lang="en-US" sz="1350" dirty="0"/>
          </a:p>
        </p:txBody>
      </p:sp>
      <p:sp>
        <p:nvSpPr>
          <p:cNvPr id="20" name="Text 18"/>
          <p:cNvSpPr/>
          <p:nvPr/>
        </p:nvSpPr>
        <p:spPr>
          <a:xfrm>
            <a:off x="5532120" y="4480560"/>
            <a:ext cx="6016752" cy="713232"/>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Subgroup performance should be a deployment precondition. Age and gender should also be dropped from the transfer model outright — removing them costs nothing.</a:t>
            </a:r>
            <a:endParaRPr lang="en-US" sz="1150" dirty="0"/>
          </a:p>
        </p:txBody>
      </p:sp>
      <p:sp>
        <p:nvSpPr>
          <p:cNvPr id="21" name="Shape 19"/>
          <p:cNvSpPr/>
          <p:nvPr/>
        </p:nvSpPr>
        <p:spPr>
          <a:xfrm>
            <a:off x="640080" y="5358384"/>
            <a:ext cx="402336" cy="402336"/>
          </a:xfrm>
          <a:prstGeom prst="ellipse">
            <a:avLst/>
          </a:prstGeom>
          <a:solidFill>
            <a:srgbClr val="5F7F6C"/>
          </a:solidFill>
          <a:ln w="12700">
            <a:solidFill>
              <a:srgbClr val="5F7F6C"/>
            </a:solidFill>
            <a:prstDash val="solid"/>
          </a:ln>
        </p:spPr>
      </p:sp>
      <p:sp>
        <p:nvSpPr>
          <p:cNvPr id="22" name="Text 20"/>
          <p:cNvSpPr/>
          <p:nvPr/>
        </p:nvSpPr>
        <p:spPr>
          <a:xfrm>
            <a:off x="640080" y="535838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225296" y="5340096"/>
            <a:ext cx="4617720" cy="457200"/>
          </a:xfrm>
          <a:prstGeom prst="rect">
            <a:avLst/>
          </a:prstGeom>
          <a:noFill/>
          <a:ln/>
        </p:spPr>
        <p:txBody>
          <a:bodyPr wrap="square" lIns="0" tIns="0" rIns="0" bIns="0" rtlCol="0" anchor="t"/>
          <a:lstStyle/>
          <a:p>
            <a:pPr indent="0" marL="0">
              <a:lnSpc>
                <a:spcPct val="100000"/>
              </a:lnSpc>
              <a:buNone/>
            </a:pPr>
            <a:r>
              <a:rPr lang="en-US" sz="1350" b="1" dirty="0">
                <a:solidFill>
                  <a:srgbClr val="2E241E"/>
                </a:solidFill>
                <a:latin typeface="Calibri" pitchFamily="34" charset="0"/>
                <a:ea typeface="Calibri" pitchFamily="34" charset="-122"/>
                <a:cs typeface="Calibri" pitchFamily="34" charset="-120"/>
              </a:rPr>
              <a:t>Move the always-on database to a scale-to-zero tier</a:t>
            </a:r>
            <a:endParaRPr lang="en-US" sz="1350" dirty="0"/>
          </a:p>
        </p:txBody>
      </p:sp>
      <p:sp>
        <p:nvSpPr>
          <p:cNvPr id="24" name="Text 22"/>
          <p:cNvSpPr/>
          <p:nvPr/>
        </p:nvSpPr>
        <p:spPr>
          <a:xfrm>
            <a:off x="5532120" y="5358384"/>
            <a:ext cx="6016752" cy="713232"/>
          </a:xfrm>
          <a:prstGeom prst="rect">
            <a:avLst/>
          </a:prstGeom>
          <a:noFill/>
          <a:ln/>
        </p:spPr>
        <p:txBody>
          <a:bodyPr wrap="square" lIns="0" tIns="0" rIns="0" bIns="0" rtlCol="0" anchor="t"/>
          <a:lstStyle/>
          <a:p>
            <a:pPr indent="0" marL="0">
              <a:lnSpc>
                <a:spcPct val="106000"/>
              </a:lnSpc>
              <a:buNone/>
            </a:pPr>
            <a:r>
              <a:rPr lang="en-US" sz="1150" dirty="0">
                <a:solidFill>
                  <a:srgbClr val="7A7167"/>
                </a:solidFill>
                <a:latin typeface="Calibri" pitchFamily="34" charset="0"/>
                <a:ea typeface="Calibri" pitchFamily="34" charset="-122"/>
                <a:cs typeface="Calibri" pitchFamily="34" charset="-120"/>
              </a:rPr>
              <a:t>It is roughly 70% of operational spend, so it is the obvious next architectural target.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241E"/>
        </a:solidFill>
      </p:bgPr>
    </p:bg>
    <p:spTree>
      <p:nvGrpSpPr>
        <p:cNvPr id="1" name=""/>
        <p:cNvGrpSpPr/>
        <p:nvPr/>
      </p:nvGrpSpPr>
      <p:grpSpPr>
        <a:xfrm>
          <a:off x="0" y="0"/>
          <a:ext cx="0" cy="0"/>
          <a:chOff x="0" y="0"/>
          <a:chExt cx="0" cy="0"/>
        </a:xfrm>
      </p:grpSpPr>
      <p:sp>
        <p:nvSpPr>
          <p:cNvPr id="2" name="Shape 0"/>
          <p:cNvSpPr/>
          <p:nvPr/>
        </p:nvSpPr>
        <p:spPr>
          <a:xfrm>
            <a:off x="-1188720" y="3291840"/>
            <a:ext cx="4754880" cy="4754880"/>
          </a:xfrm>
          <a:prstGeom prst="ellipse">
            <a:avLst/>
          </a:prstGeom>
          <a:solidFill>
            <a:srgbClr val="5F7F6C">
              <a:alpha val="24000"/>
            </a:srgbClr>
          </a:solidFill>
          <a:ln w="12700">
            <a:solidFill>
              <a:srgbClr val="5F7F6C">
                <a:alpha val="24000"/>
              </a:srgbClr>
            </a:solidFill>
            <a:prstDash val="solid"/>
          </a:ln>
        </p:spPr>
      </p:sp>
      <p:sp>
        <p:nvSpPr>
          <p:cNvPr id="3" name="Shape 1"/>
          <p:cNvSpPr/>
          <p:nvPr/>
        </p:nvSpPr>
        <p:spPr>
          <a:xfrm>
            <a:off x="9326880" y="-1371600"/>
            <a:ext cx="4206240" cy="4206240"/>
          </a:xfrm>
          <a:prstGeom prst="ellipse">
            <a:avLst/>
          </a:prstGeom>
          <a:solidFill>
            <a:srgbClr val="B85042">
              <a:alpha val="30000"/>
            </a:srgbClr>
          </a:solidFill>
          <a:ln w="12700">
            <a:solidFill>
              <a:srgbClr val="B85042">
                <a:alpha val="30000"/>
              </a:srgbClr>
            </a:solidFill>
            <a:prstDash val="solid"/>
          </a:ln>
        </p:spPr>
      </p:sp>
      <p:sp>
        <p:nvSpPr>
          <p:cNvPr id="4" name="Text 2"/>
          <p:cNvSpPr/>
          <p:nvPr/>
        </p:nvSpPr>
        <p:spPr>
          <a:xfrm>
            <a:off x="1463040" y="2011680"/>
            <a:ext cx="9235440" cy="1554480"/>
          </a:xfrm>
          <a:prstGeom prst="rect">
            <a:avLst/>
          </a:prstGeom>
          <a:noFill/>
          <a:ln/>
        </p:spPr>
        <p:txBody>
          <a:bodyPr wrap="square" lIns="0" tIns="0" rIns="0" bIns="0" rtlCol="0" anchor="ctr"/>
          <a:lstStyle/>
          <a:p>
            <a:pPr algn="ctr" indent="0" marL="0">
              <a:lnSpc>
                <a:spcPct val="112000"/>
              </a:lnSpc>
              <a:buNone/>
            </a:pPr>
            <a:r>
              <a:rPr lang="en-US" sz="2700" b="1" dirty="0">
                <a:solidFill>
                  <a:srgbClr val="FFFFFF"/>
                </a:solidFill>
                <a:latin typeface="Cambria" pitchFamily="34" charset="0"/>
                <a:ea typeface="Cambria" pitchFamily="34" charset="-122"/>
                <a:cs typeface="Cambria" pitchFamily="34" charset="-120"/>
              </a:rPr>
              <a:t>The most useful thing this project produced was not the strong model, but the weak one.</a:t>
            </a:r>
            <a:endParaRPr lang="en-US" sz="2700" dirty="0"/>
          </a:p>
        </p:txBody>
      </p:sp>
      <p:sp>
        <p:nvSpPr>
          <p:cNvPr id="5" name="Text 3"/>
          <p:cNvSpPr/>
          <p:nvPr/>
        </p:nvSpPr>
        <p:spPr>
          <a:xfrm>
            <a:off x="2103120" y="3657600"/>
            <a:ext cx="7955280" cy="822960"/>
          </a:xfrm>
          <a:prstGeom prst="rect">
            <a:avLst/>
          </a:prstGeom>
          <a:noFill/>
          <a:ln/>
        </p:spPr>
        <p:txBody>
          <a:bodyPr wrap="square" lIns="0" tIns="0" rIns="0" bIns="0" rtlCol="0" anchor="ctr"/>
          <a:lstStyle/>
          <a:p>
            <a:pPr algn="ctr" indent="0" marL="0">
              <a:lnSpc>
                <a:spcPct val="110000"/>
              </a:lnSpc>
              <a:buNone/>
            </a:pPr>
            <a:r>
              <a:rPr lang="en-US" sz="1400" i="1" dirty="0">
                <a:solidFill>
                  <a:srgbClr val="E0E1CE"/>
                </a:solidFill>
                <a:latin typeface="Calibri" pitchFamily="34" charset="0"/>
                <a:ea typeface="Calibri" pitchFamily="34" charset="-122"/>
                <a:cs typeface="Calibri" pitchFamily="34" charset="-120"/>
              </a:rPr>
              <a:t>International attrition data cannot substitute for local data collection in this domain — and that is precisely the gap the project set out to examine.</a:t>
            </a:r>
            <a:endParaRPr lang="en-US" sz="1400" dirty="0"/>
          </a:p>
        </p:txBody>
      </p:sp>
      <p:sp>
        <p:nvSpPr>
          <p:cNvPr id="6" name="Text 4"/>
          <p:cNvSpPr/>
          <p:nvPr/>
        </p:nvSpPr>
        <p:spPr>
          <a:xfrm>
            <a:off x="2103120" y="4892040"/>
            <a:ext cx="7955280" cy="457200"/>
          </a:xfrm>
          <a:prstGeom prst="rect">
            <a:avLst/>
          </a:prstGeom>
          <a:noFill/>
          <a:ln/>
        </p:spPr>
        <p:txBody>
          <a:bodyPr wrap="square" lIns="0" tIns="0" rIns="0" bIns="0" rtlCol="0" anchor="ctr"/>
          <a:lstStyle/>
          <a:p>
            <a:pPr algn="ctr" indent="0" marL="0">
              <a:buNone/>
            </a:pPr>
            <a:r>
              <a:rPr lang="en-US" sz="1700" b="1" dirty="0">
                <a:solidFill>
                  <a:srgbClr val="A7BEAE"/>
                </a:solidFill>
                <a:latin typeface="Calibri" pitchFamily="34" charset="0"/>
                <a:ea typeface="Calibri" pitchFamily="34" charset="-122"/>
                <a:cs typeface="Calibri" pitchFamily="34" charset="-120"/>
              </a:rPr>
              <a:t>Thank you — questions welcome</a:t>
            </a:r>
            <a:endParaRPr lang="en-US" sz="1700" dirty="0"/>
          </a:p>
        </p:txBody>
      </p:sp>
      <p:sp>
        <p:nvSpPr>
          <p:cNvPr id="7" name="Text 5"/>
          <p:cNvSpPr/>
          <p:nvPr/>
        </p:nvSpPr>
        <p:spPr>
          <a:xfrm>
            <a:off x="2103120" y="5440680"/>
            <a:ext cx="7955280" cy="320040"/>
          </a:xfrm>
          <a:prstGeom prst="rect">
            <a:avLst/>
          </a:prstGeom>
          <a:noFill/>
          <a:ln/>
        </p:spPr>
        <p:txBody>
          <a:bodyPr wrap="square" lIns="0" tIns="0" rIns="0" bIns="0" rtlCol="0" anchor="ctr"/>
          <a:lstStyle/>
          <a:p>
            <a:pPr algn="ctr" indent="0" marL="0">
              <a:buNone/>
            </a:pPr>
            <a:r>
              <a:rPr lang="en-US" sz="1150" spc="120" kern="0" dirty="0">
                <a:solidFill>
                  <a:srgbClr val="7A7167"/>
                </a:solidFill>
                <a:latin typeface="Calibri" pitchFamily="34" charset="0"/>
                <a:ea typeface="Calibri" pitchFamily="34" charset="-122"/>
                <a:cs typeface="Calibri" pitchFamily="34" charset="-120"/>
              </a:rPr>
              <a:t>Theekshana Gimhan  |  15002  |  COM 4901</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Cost-Effective Predictive HR Analytics Framework for Sri Lankan SMEs</dc:title>
  <dc:subject>PptxGenJS Presentation</dc:subject>
  <dc:creator>Theekshana Gimhan</dc:creator>
  <cp:lastModifiedBy>Theekshana Gimhan</cp:lastModifiedBy>
  <cp:revision>1</cp:revision>
  <dcterms:created xsi:type="dcterms:W3CDTF">2026-08-27T04:56:10Z</dcterms:created>
  <dcterms:modified xsi:type="dcterms:W3CDTF">2026-08-27T04:56:10Z</dcterms:modified>
</cp:coreProperties>
</file>